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56" r:id="rId2"/>
    <p:sldId id="259" r:id="rId3"/>
    <p:sldId id="257" r:id="rId4"/>
    <p:sldId id="270" r:id="rId5"/>
    <p:sldId id="269" r:id="rId6"/>
    <p:sldId id="260" r:id="rId7"/>
    <p:sldId id="261" r:id="rId8"/>
    <p:sldId id="273" r:id="rId9"/>
    <p:sldId id="262" r:id="rId10"/>
    <p:sldId id="263" r:id="rId11"/>
    <p:sldId id="274" r:id="rId12"/>
    <p:sldId id="264" r:id="rId13"/>
    <p:sldId id="275" r:id="rId14"/>
    <p:sldId id="276" r:id="rId15"/>
    <p:sldId id="265" r:id="rId16"/>
    <p:sldId id="268" r:id="rId17"/>
    <p:sldId id="258"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CF0847-4678-4E13-9DAB-A85A29B10637}" v="100" dt="2025-11-28T22:24:13.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09" d="100"/>
          <a:sy n="109" d="100"/>
        </p:scale>
        <p:origin x="1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palapati, Karthik" userId="10896c07-e94b-4063-8a62-840236d02a35" providerId="ADAL" clId="{89F15C5C-D6D2-4B00-8A04-388D2674B328}"/>
    <pc:docChg chg="undo redo custSel addSld delSld modSld sldOrd">
      <pc:chgData name="Uppalapati, Karthik" userId="10896c07-e94b-4063-8a62-840236d02a35" providerId="ADAL" clId="{89F15C5C-D6D2-4B00-8A04-388D2674B328}" dt="2025-11-28T22:24:13.496" v="449" actId="20577"/>
      <pc:docMkLst>
        <pc:docMk/>
      </pc:docMkLst>
      <pc:sldChg chg="modSp mod">
        <pc:chgData name="Uppalapati, Karthik" userId="10896c07-e94b-4063-8a62-840236d02a35" providerId="ADAL" clId="{89F15C5C-D6D2-4B00-8A04-388D2674B328}" dt="2025-11-28T22:24:13.496" v="449" actId="20577"/>
        <pc:sldMkLst>
          <pc:docMk/>
          <pc:sldMk cId="2434398844" sldId="256"/>
        </pc:sldMkLst>
        <pc:spChg chg="mod">
          <ac:chgData name="Uppalapati, Karthik" userId="10896c07-e94b-4063-8a62-840236d02a35" providerId="ADAL" clId="{89F15C5C-D6D2-4B00-8A04-388D2674B328}" dt="2025-11-28T21:06:29.870" v="1"/>
          <ac:spMkLst>
            <pc:docMk/>
            <pc:sldMk cId="2434398844" sldId="256"/>
            <ac:spMk id="2" creationId="{DCE58CF2-0B72-6CDD-8BB6-93681517083C}"/>
          </ac:spMkLst>
        </pc:spChg>
        <pc:spChg chg="mod">
          <ac:chgData name="Uppalapati, Karthik" userId="10896c07-e94b-4063-8a62-840236d02a35" providerId="ADAL" clId="{89F15C5C-D6D2-4B00-8A04-388D2674B328}" dt="2025-11-28T21:06:30.027" v="2" actId="27636"/>
          <ac:spMkLst>
            <pc:docMk/>
            <pc:sldMk cId="2434398844" sldId="256"/>
            <ac:spMk id="3" creationId="{B66330AE-1637-D088-E062-0FA0F1B3D323}"/>
          </ac:spMkLst>
        </pc:spChg>
        <pc:spChg chg="mod">
          <ac:chgData name="Uppalapati, Karthik" userId="10896c07-e94b-4063-8a62-840236d02a35" providerId="ADAL" clId="{89F15C5C-D6D2-4B00-8A04-388D2674B328}" dt="2025-11-28T22:24:13.496" v="449" actId="20577"/>
          <ac:spMkLst>
            <pc:docMk/>
            <pc:sldMk cId="2434398844" sldId="256"/>
            <ac:spMk id="5" creationId="{D0988F01-200A-8EAD-5C1C-1848C259CB73}"/>
          </ac:spMkLst>
        </pc:spChg>
      </pc:sldChg>
      <pc:sldChg chg="modSp mod">
        <pc:chgData name="Uppalapati, Karthik" userId="10896c07-e94b-4063-8a62-840236d02a35" providerId="ADAL" clId="{89F15C5C-D6D2-4B00-8A04-388D2674B328}" dt="2025-11-28T21:06:50.037" v="8" actId="1076"/>
        <pc:sldMkLst>
          <pc:docMk/>
          <pc:sldMk cId="4048527397" sldId="257"/>
        </pc:sldMkLst>
        <pc:spChg chg="mod">
          <ac:chgData name="Uppalapati, Karthik" userId="10896c07-e94b-4063-8a62-840236d02a35" providerId="ADAL" clId="{89F15C5C-D6D2-4B00-8A04-388D2674B328}" dt="2025-11-28T21:06:42.979" v="7" actId="1076"/>
          <ac:spMkLst>
            <pc:docMk/>
            <pc:sldMk cId="4048527397" sldId="257"/>
            <ac:spMk id="2" creationId="{955F77EC-2432-6E86-E0A9-8921AF332EBB}"/>
          </ac:spMkLst>
        </pc:spChg>
        <pc:spChg chg="mod">
          <ac:chgData name="Uppalapati, Karthik" userId="10896c07-e94b-4063-8a62-840236d02a35" providerId="ADAL" clId="{89F15C5C-D6D2-4B00-8A04-388D2674B328}" dt="2025-11-28T21:06:50.037" v="8" actId="1076"/>
          <ac:spMkLst>
            <pc:docMk/>
            <pc:sldMk cId="4048527397" sldId="257"/>
            <ac:spMk id="3" creationId="{FB69FA0E-011E-1AFF-D9EB-8F26BC2C6EE7}"/>
          </ac:spMkLst>
        </pc:spChg>
      </pc:sldChg>
      <pc:sldChg chg="modSp mod">
        <pc:chgData name="Uppalapati, Karthik" userId="10896c07-e94b-4063-8a62-840236d02a35" providerId="ADAL" clId="{89F15C5C-D6D2-4B00-8A04-388D2674B328}" dt="2025-11-28T21:06:30.274" v="6" actId="27636"/>
        <pc:sldMkLst>
          <pc:docMk/>
          <pc:sldMk cId="1255711282" sldId="258"/>
        </pc:sldMkLst>
        <pc:spChg chg="mod">
          <ac:chgData name="Uppalapati, Karthik" userId="10896c07-e94b-4063-8a62-840236d02a35" providerId="ADAL" clId="{89F15C5C-D6D2-4B00-8A04-388D2674B328}" dt="2025-11-28T21:06:29.870" v="1"/>
          <ac:spMkLst>
            <pc:docMk/>
            <pc:sldMk cId="1255711282" sldId="258"/>
            <ac:spMk id="2" creationId="{73DC67BA-D7A0-6BD8-994C-ACB6704C823F}"/>
          </ac:spMkLst>
        </pc:spChg>
        <pc:spChg chg="mod">
          <ac:chgData name="Uppalapati, Karthik" userId="10896c07-e94b-4063-8a62-840236d02a35" providerId="ADAL" clId="{89F15C5C-D6D2-4B00-8A04-388D2674B328}" dt="2025-11-28T21:06:30.274" v="6" actId="27636"/>
          <ac:spMkLst>
            <pc:docMk/>
            <pc:sldMk cId="1255711282" sldId="258"/>
            <ac:spMk id="3" creationId="{90B14B54-E4C5-1D63-D7ED-669D8245AB46}"/>
          </ac:spMkLst>
        </pc:spChg>
      </pc:sldChg>
      <pc:sldChg chg="modSp mod">
        <pc:chgData name="Uppalapati, Karthik" userId="10896c07-e94b-4063-8a62-840236d02a35" providerId="ADAL" clId="{89F15C5C-D6D2-4B00-8A04-388D2674B328}" dt="2025-11-28T21:06:30.201" v="3" actId="27636"/>
        <pc:sldMkLst>
          <pc:docMk/>
          <pc:sldMk cId="2927188302" sldId="259"/>
        </pc:sldMkLst>
        <pc:spChg chg="mod">
          <ac:chgData name="Uppalapati, Karthik" userId="10896c07-e94b-4063-8a62-840236d02a35" providerId="ADAL" clId="{89F15C5C-D6D2-4B00-8A04-388D2674B328}" dt="2025-11-28T21:06:29.870" v="1"/>
          <ac:spMkLst>
            <pc:docMk/>
            <pc:sldMk cId="2927188302" sldId="259"/>
            <ac:spMk id="2" creationId="{5522EDB5-C0D6-B783-0D3E-C95F7E896072}"/>
          </ac:spMkLst>
        </pc:spChg>
        <pc:spChg chg="mod">
          <ac:chgData name="Uppalapati, Karthik" userId="10896c07-e94b-4063-8a62-840236d02a35" providerId="ADAL" clId="{89F15C5C-D6D2-4B00-8A04-388D2674B328}" dt="2025-11-28T21:06:30.201" v="3" actId="27636"/>
          <ac:spMkLst>
            <pc:docMk/>
            <pc:sldMk cId="2927188302" sldId="259"/>
            <ac:spMk id="3" creationId="{80B5695C-CAAD-D042-7173-39E6EA2F4500}"/>
          </ac:spMkLst>
        </pc:spChg>
      </pc:sldChg>
      <pc:sldChg chg="modSp mod">
        <pc:chgData name="Uppalapati, Karthik" userId="10896c07-e94b-4063-8a62-840236d02a35" providerId="ADAL" clId="{89F15C5C-D6D2-4B00-8A04-388D2674B328}" dt="2025-11-28T21:41:07.038" v="51" actId="27636"/>
        <pc:sldMkLst>
          <pc:docMk/>
          <pc:sldMk cId="3479996839" sldId="260"/>
        </pc:sldMkLst>
        <pc:spChg chg="mod">
          <ac:chgData name="Uppalapati, Karthik" userId="10896c07-e94b-4063-8a62-840236d02a35" providerId="ADAL" clId="{89F15C5C-D6D2-4B00-8A04-388D2674B328}" dt="2025-11-28T21:06:29.870" v="1"/>
          <ac:spMkLst>
            <pc:docMk/>
            <pc:sldMk cId="3479996839" sldId="260"/>
            <ac:spMk id="2" creationId="{B30426B6-E9B0-D5A2-8124-A745128F6CB5}"/>
          </ac:spMkLst>
        </pc:spChg>
        <pc:spChg chg="mod">
          <ac:chgData name="Uppalapati, Karthik" userId="10896c07-e94b-4063-8a62-840236d02a35" providerId="ADAL" clId="{89F15C5C-D6D2-4B00-8A04-388D2674B328}" dt="2025-11-28T21:41:07.038" v="51" actId="27636"/>
          <ac:spMkLst>
            <pc:docMk/>
            <pc:sldMk cId="3479996839" sldId="260"/>
            <ac:spMk id="3" creationId="{A9B9B480-6BF8-A786-A20B-4038D908FAA8}"/>
          </ac:spMkLst>
        </pc:spChg>
      </pc:sldChg>
      <pc:sldChg chg="modSp mod">
        <pc:chgData name="Uppalapati, Karthik" userId="10896c07-e94b-4063-8a62-840236d02a35" providerId="ADAL" clId="{89F15C5C-D6D2-4B00-8A04-388D2674B328}" dt="2025-11-28T22:17:54.270" v="446" actId="1076"/>
        <pc:sldMkLst>
          <pc:docMk/>
          <pc:sldMk cId="728170259" sldId="261"/>
        </pc:sldMkLst>
        <pc:spChg chg="mod">
          <ac:chgData name="Uppalapati, Karthik" userId="10896c07-e94b-4063-8a62-840236d02a35" providerId="ADAL" clId="{89F15C5C-D6D2-4B00-8A04-388D2674B328}" dt="2025-11-28T22:16:37.614" v="424" actId="1076"/>
          <ac:spMkLst>
            <pc:docMk/>
            <pc:sldMk cId="728170259" sldId="261"/>
            <ac:spMk id="2" creationId="{2E71B7A5-99E8-F2EE-7A81-A8EE28168BEB}"/>
          </ac:spMkLst>
        </pc:spChg>
        <pc:spChg chg="mod">
          <ac:chgData name="Uppalapati, Karthik" userId="10896c07-e94b-4063-8a62-840236d02a35" providerId="ADAL" clId="{89F15C5C-D6D2-4B00-8A04-388D2674B328}" dt="2025-11-28T22:17:54.270" v="446" actId="1076"/>
          <ac:spMkLst>
            <pc:docMk/>
            <pc:sldMk cId="728170259" sldId="261"/>
            <ac:spMk id="3" creationId="{219276F5-A5DE-37A7-D774-E7635FDC0FA2}"/>
          </ac:spMkLst>
        </pc:spChg>
      </pc:sldChg>
      <pc:sldChg chg="delSp delDesignElem">
        <pc:chgData name="Uppalapati, Karthik" userId="10896c07-e94b-4063-8a62-840236d02a35" providerId="ADAL" clId="{89F15C5C-D6D2-4B00-8A04-388D2674B328}" dt="2025-11-28T21:06:29.870" v="1"/>
        <pc:sldMkLst>
          <pc:docMk/>
          <pc:sldMk cId="1823701788" sldId="262"/>
        </pc:sldMkLst>
        <pc:spChg chg="del">
          <ac:chgData name="Uppalapati, Karthik" userId="10896c07-e94b-4063-8a62-840236d02a35" providerId="ADAL" clId="{89F15C5C-D6D2-4B00-8A04-388D2674B328}" dt="2025-11-28T21:06:29.870" v="1"/>
          <ac:spMkLst>
            <pc:docMk/>
            <pc:sldMk cId="1823701788" sldId="262"/>
            <ac:spMk id="19" creationId="{99ED5833-B85B-4103-8A3B-CAB0308E6C15}"/>
          </ac:spMkLst>
        </pc:spChg>
      </pc:sldChg>
      <pc:sldChg chg="modSp mod">
        <pc:chgData name="Uppalapati, Karthik" userId="10896c07-e94b-4063-8a62-840236d02a35" providerId="ADAL" clId="{89F15C5C-D6D2-4B00-8A04-388D2674B328}" dt="2025-11-28T21:47:20.813" v="146" actId="15"/>
        <pc:sldMkLst>
          <pc:docMk/>
          <pc:sldMk cId="779870363" sldId="263"/>
        </pc:sldMkLst>
        <pc:spChg chg="mod">
          <ac:chgData name="Uppalapati, Karthik" userId="10896c07-e94b-4063-8a62-840236d02a35" providerId="ADAL" clId="{89F15C5C-D6D2-4B00-8A04-388D2674B328}" dt="2025-11-28T21:46:35.762" v="121" actId="1076"/>
          <ac:spMkLst>
            <pc:docMk/>
            <pc:sldMk cId="779870363" sldId="263"/>
            <ac:spMk id="2" creationId="{19CCD931-EA22-F2EA-E147-9DE9EDB09435}"/>
          </ac:spMkLst>
        </pc:spChg>
        <pc:spChg chg="mod">
          <ac:chgData name="Uppalapati, Karthik" userId="10896c07-e94b-4063-8a62-840236d02a35" providerId="ADAL" clId="{89F15C5C-D6D2-4B00-8A04-388D2674B328}" dt="2025-11-28T21:47:20.813" v="146" actId="15"/>
          <ac:spMkLst>
            <pc:docMk/>
            <pc:sldMk cId="779870363" sldId="263"/>
            <ac:spMk id="3" creationId="{BDF499C4-9E24-4376-05D3-2219D139E40C}"/>
          </ac:spMkLst>
        </pc:spChg>
      </pc:sldChg>
      <pc:sldChg chg="modSp mod">
        <pc:chgData name="Uppalapati, Karthik" userId="10896c07-e94b-4063-8a62-840236d02a35" providerId="ADAL" clId="{89F15C5C-D6D2-4B00-8A04-388D2674B328}" dt="2025-11-28T21:51:26.607" v="208" actId="27636"/>
        <pc:sldMkLst>
          <pc:docMk/>
          <pc:sldMk cId="3456077108" sldId="264"/>
        </pc:sldMkLst>
        <pc:spChg chg="mod">
          <ac:chgData name="Uppalapati, Karthik" userId="10896c07-e94b-4063-8a62-840236d02a35" providerId="ADAL" clId="{89F15C5C-D6D2-4B00-8A04-388D2674B328}" dt="2025-11-28T21:06:29.870" v="1"/>
          <ac:spMkLst>
            <pc:docMk/>
            <pc:sldMk cId="3456077108" sldId="264"/>
            <ac:spMk id="2" creationId="{2C6995A6-2BA8-088C-E71D-B4D21CDEFE4E}"/>
          </ac:spMkLst>
        </pc:spChg>
        <pc:spChg chg="mod">
          <ac:chgData name="Uppalapati, Karthik" userId="10896c07-e94b-4063-8a62-840236d02a35" providerId="ADAL" clId="{89F15C5C-D6D2-4B00-8A04-388D2674B328}" dt="2025-11-28T21:51:26.607" v="208" actId="27636"/>
          <ac:spMkLst>
            <pc:docMk/>
            <pc:sldMk cId="3456077108" sldId="264"/>
            <ac:spMk id="3" creationId="{925A67DB-D0EB-74C8-42AD-9972236C1A50}"/>
          </ac:spMkLst>
        </pc:spChg>
      </pc:sldChg>
      <pc:sldChg chg="delSp modSp mod">
        <pc:chgData name="Uppalapati, Karthik" userId="10896c07-e94b-4063-8a62-840236d02a35" providerId="ADAL" clId="{89F15C5C-D6D2-4B00-8A04-388D2674B328}" dt="2025-11-28T22:00:36.755" v="351" actId="403"/>
        <pc:sldMkLst>
          <pc:docMk/>
          <pc:sldMk cId="461272213" sldId="265"/>
        </pc:sldMkLst>
        <pc:spChg chg="mod">
          <ac:chgData name="Uppalapati, Karthik" userId="10896c07-e94b-4063-8a62-840236d02a35" providerId="ADAL" clId="{89F15C5C-D6D2-4B00-8A04-388D2674B328}" dt="2025-11-28T21:57:22.121" v="293" actId="1076"/>
          <ac:spMkLst>
            <pc:docMk/>
            <pc:sldMk cId="461272213" sldId="265"/>
            <ac:spMk id="2" creationId="{7A55C5C3-2414-5239-C9FC-9C3F106E2192}"/>
          </ac:spMkLst>
        </pc:spChg>
        <pc:spChg chg="mod">
          <ac:chgData name="Uppalapati, Karthik" userId="10896c07-e94b-4063-8a62-840236d02a35" providerId="ADAL" clId="{89F15C5C-D6D2-4B00-8A04-388D2674B328}" dt="2025-11-28T22:00:36.755" v="351" actId="403"/>
          <ac:spMkLst>
            <pc:docMk/>
            <pc:sldMk cId="461272213" sldId="265"/>
            <ac:spMk id="3" creationId="{6142C307-E670-3609-77FB-0B7BC5466B17}"/>
          </ac:spMkLst>
        </pc:spChg>
        <pc:picChg chg="del mod">
          <ac:chgData name="Uppalapati, Karthik" userId="10896c07-e94b-4063-8a62-840236d02a35" providerId="ADAL" clId="{89F15C5C-D6D2-4B00-8A04-388D2674B328}" dt="2025-11-28T21:57:28.116" v="296" actId="21"/>
          <ac:picMkLst>
            <pc:docMk/>
            <pc:sldMk cId="461272213" sldId="265"/>
            <ac:picMk id="5" creationId="{A4A4073F-152B-8450-A89C-5893034744BE}"/>
          </ac:picMkLst>
        </pc:picChg>
      </pc:sldChg>
      <pc:sldChg chg="modSp del">
        <pc:chgData name="Uppalapati, Karthik" userId="10896c07-e94b-4063-8a62-840236d02a35" providerId="ADAL" clId="{89F15C5C-D6D2-4B00-8A04-388D2674B328}" dt="2025-11-28T22:00:51.709" v="352" actId="47"/>
        <pc:sldMkLst>
          <pc:docMk/>
          <pc:sldMk cId="1397361462" sldId="266"/>
        </pc:sldMkLst>
        <pc:spChg chg="mod">
          <ac:chgData name="Uppalapati, Karthik" userId="10896c07-e94b-4063-8a62-840236d02a35" providerId="ADAL" clId="{89F15C5C-D6D2-4B00-8A04-388D2674B328}" dt="2025-11-28T21:06:29.870" v="1"/>
          <ac:spMkLst>
            <pc:docMk/>
            <pc:sldMk cId="1397361462" sldId="266"/>
            <ac:spMk id="2" creationId="{287877F5-D31B-A434-ED73-FBA5323000DE}"/>
          </ac:spMkLst>
        </pc:spChg>
        <pc:spChg chg="mod">
          <ac:chgData name="Uppalapati, Karthik" userId="10896c07-e94b-4063-8a62-840236d02a35" providerId="ADAL" clId="{89F15C5C-D6D2-4B00-8A04-388D2674B328}" dt="2025-11-28T21:06:29.870" v="1"/>
          <ac:spMkLst>
            <pc:docMk/>
            <pc:sldMk cId="1397361462" sldId="266"/>
            <ac:spMk id="3" creationId="{1CA1BE6B-5941-6565-8CA9-AB179C007E31}"/>
          </ac:spMkLst>
        </pc:spChg>
      </pc:sldChg>
      <pc:sldChg chg="modSp mod">
        <pc:chgData name="Uppalapati, Karthik" userId="10896c07-e94b-4063-8a62-840236d02a35" providerId="ADAL" clId="{89F15C5C-D6D2-4B00-8A04-388D2674B328}" dt="2025-11-28T22:07:21.994" v="399" actId="1076"/>
        <pc:sldMkLst>
          <pc:docMk/>
          <pc:sldMk cId="1120774872" sldId="268"/>
        </pc:sldMkLst>
        <pc:spChg chg="mod">
          <ac:chgData name="Uppalapati, Karthik" userId="10896c07-e94b-4063-8a62-840236d02a35" providerId="ADAL" clId="{89F15C5C-D6D2-4B00-8A04-388D2674B328}" dt="2025-11-28T22:03:28.626" v="354" actId="1076"/>
          <ac:spMkLst>
            <pc:docMk/>
            <pc:sldMk cId="1120774872" sldId="268"/>
            <ac:spMk id="2" creationId="{990F652F-2791-3A9E-7A2B-127F425E6321}"/>
          </ac:spMkLst>
        </pc:spChg>
        <pc:spChg chg="mod">
          <ac:chgData name="Uppalapati, Karthik" userId="10896c07-e94b-4063-8a62-840236d02a35" providerId="ADAL" clId="{89F15C5C-D6D2-4B00-8A04-388D2674B328}" dt="2025-11-28T22:07:21.994" v="399" actId="1076"/>
          <ac:spMkLst>
            <pc:docMk/>
            <pc:sldMk cId="1120774872" sldId="268"/>
            <ac:spMk id="3" creationId="{8AD1536B-1F7B-EE15-2818-17A22AC4B652}"/>
          </ac:spMkLst>
        </pc:spChg>
      </pc:sldChg>
      <pc:sldChg chg="addSp delSp modSp mod">
        <pc:chgData name="Uppalapati, Karthik" userId="10896c07-e94b-4063-8a62-840236d02a35" providerId="ADAL" clId="{89F15C5C-D6D2-4B00-8A04-388D2674B328}" dt="2025-11-28T22:10:47.362" v="411" actId="1076"/>
        <pc:sldMkLst>
          <pc:docMk/>
          <pc:sldMk cId="2918208833" sldId="269"/>
        </pc:sldMkLst>
        <pc:spChg chg="mod">
          <ac:chgData name="Uppalapati, Karthik" userId="10896c07-e94b-4063-8a62-840236d02a35" providerId="ADAL" clId="{89F15C5C-D6D2-4B00-8A04-388D2674B328}" dt="2025-11-28T22:10:33.895" v="406" actId="1076"/>
          <ac:spMkLst>
            <pc:docMk/>
            <pc:sldMk cId="2918208833" sldId="269"/>
            <ac:spMk id="4" creationId="{66B78BFA-3CB8-9029-E442-A5996C445770}"/>
          </ac:spMkLst>
        </pc:spChg>
        <pc:spChg chg="del mod">
          <ac:chgData name="Uppalapati, Karthik" userId="10896c07-e94b-4063-8a62-840236d02a35" providerId="ADAL" clId="{89F15C5C-D6D2-4B00-8A04-388D2674B328}" dt="2025-11-28T22:10:22.516" v="401" actId="3680"/>
          <ac:spMkLst>
            <pc:docMk/>
            <pc:sldMk cId="2918208833" sldId="269"/>
            <ac:spMk id="7" creationId="{B5AA7106-3C4F-DD1F-BDED-0AFCBE0C902D}"/>
          </ac:spMkLst>
        </pc:spChg>
        <pc:graphicFrameChg chg="add mod ord modGraphic">
          <ac:chgData name="Uppalapati, Karthik" userId="10896c07-e94b-4063-8a62-840236d02a35" providerId="ADAL" clId="{89F15C5C-D6D2-4B00-8A04-388D2674B328}" dt="2025-11-28T22:10:47.362" v="411" actId="1076"/>
          <ac:graphicFrameMkLst>
            <pc:docMk/>
            <pc:sldMk cId="2918208833" sldId="269"/>
            <ac:graphicFrameMk id="2" creationId="{F7CFA754-63AB-349E-AD9F-C58D81597FB2}"/>
          </ac:graphicFrameMkLst>
        </pc:graphicFrameChg>
      </pc:sldChg>
      <pc:sldChg chg="modSp">
        <pc:chgData name="Uppalapati, Karthik" userId="10896c07-e94b-4063-8a62-840236d02a35" providerId="ADAL" clId="{89F15C5C-D6D2-4B00-8A04-388D2674B328}" dt="2025-11-28T21:06:29.870" v="1"/>
        <pc:sldMkLst>
          <pc:docMk/>
          <pc:sldMk cId="1434490674" sldId="270"/>
        </pc:sldMkLst>
        <pc:spChg chg="mod">
          <ac:chgData name="Uppalapati, Karthik" userId="10896c07-e94b-4063-8a62-840236d02a35" providerId="ADAL" clId="{89F15C5C-D6D2-4B00-8A04-388D2674B328}" dt="2025-11-28T21:06:29.870" v="1"/>
          <ac:spMkLst>
            <pc:docMk/>
            <pc:sldMk cId="1434490674" sldId="270"/>
            <ac:spMk id="2" creationId="{4DF3D58A-2B92-24C9-CD9B-1B4B9674DAAC}"/>
          </ac:spMkLst>
        </pc:spChg>
        <pc:spChg chg="mod">
          <ac:chgData name="Uppalapati, Karthik" userId="10896c07-e94b-4063-8a62-840236d02a35" providerId="ADAL" clId="{89F15C5C-D6D2-4B00-8A04-388D2674B328}" dt="2025-11-28T21:06:29.870" v="1"/>
          <ac:spMkLst>
            <pc:docMk/>
            <pc:sldMk cId="1434490674" sldId="270"/>
            <ac:spMk id="3" creationId="{B51D4559-11BA-8A55-6684-683A2B201A59}"/>
          </ac:spMkLst>
        </pc:spChg>
      </pc:sldChg>
      <pc:sldChg chg="modSp del">
        <pc:chgData name="Uppalapati, Karthik" userId="10896c07-e94b-4063-8a62-840236d02a35" providerId="ADAL" clId="{89F15C5C-D6D2-4B00-8A04-388D2674B328}" dt="2025-11-28T21:07:43.628" v="12" actId="47"/>
        <pc:sldMkLst>
          <pc:docMk/>
          <pc:sldMk cId="1657591300" sldId="271"/>
        </pc:sldMkLst>
        <pc:spChg chg="mod">
          <ac:chgData name="Uppalapati, Karthik" userId="10896c07-e94b-4063-8a62-840236d02a35" providerId="ADAL" clId="{89F15C5C-D6D2-4B00-8A04-388D2674B328}" dt="2025-11-28T21:06:29.870" v="1"/>
          <ac:spMkLst>
            <pc:docMk/>
            <pc:sldMk cId="1657591300" sldId="271"/>
            <ac:spMk id="3" creationId="{09354E1B-5A50-C04E-4CAB-207124E28492}"/>
          </ac:spMkLst>
        </pc:spChg>
      </pc:sldChg>
      <pc:sldChg chg="modSp">
        <pc:chgData name="Uppalapati, Karthik" userId="10896c07-e94b-4063-8a62-840236d02a35" providerId="ADAL" clId="{89F15C5C-D6D2-4B00-8A04-388D2674B328}" dt="2025-11-28T21:06:29.870" v="1"/>
        <pc:sldMkLst>
          <pc:docMk/>
          <pc:sldMk cId="3264106" sldId="272"/>
        </pc:sldMkLst>
        <pc:spChg chg="mod">
          <ac:chgData name="Uppalapati, Karthik" userId="10896c07-e94b-4063-8a62-840236d02a35" providerId="ADAL" clId="{89F15C5C-D6D2-4B00-8A04-388D2674B328}" dt="2025-11-28T21:06:29.870" v="1"/>
          <ac:spMkLst>
            <pc:docMk/>
            <pc:sldMk cId="3264106" sldId="272"/>
            <ac:spMk id="2" creationId="{76592829-B47C-F114-6948-A8A31928CE31}"/>
          </ac:spMkLst>
        </pc:spChg>
        <pc:spChg chg="mod">
          <ac:chgData name="Uppalapati, Karthik" userId="10896c07-e94b-4063-8a62-840236d02a35" providerId="ADAL" clId="{89F15C5C-D6D2-4B00-8A04-388D2674B328}" dt="2025-11-28T21:06:29.870" v="1"/>
          <ac:spMkLst>
            <pc:docMk/>
            <pc:sldMk cId="3264106" sldId="272"/>
            <ac:spMk id="3" creationId="{C30708A6-1D04-74C7-39BE-6117FE87C012}"/>
          </ac:spMkLst>
        </pc:spChg>
      </pc:sldChg>
      <pc:sldChg chg="modSp new mod ord">
        <pc:chgData name="Uppalapati, Karthik" userId="10896c07-e94b-4063-8a62-840236d02a35" providerId="ADAL" clId="{89F15C5C-D6D2-4B00-8A04-388D2674B328}" dt="2025-11-28T21:44:21.368" v="93" actId="20577"/>
        <pc:sldMkLst>
          <pc:docMk/>
          <pc:sldMk cId="2303340894" sldId="273"/>
        </pc:sldMkLst>
        <pc:spChg chg="mod">
          <ac:chgData name="Uppalapati, Karthik" userId="10896c07-e94b-4063-8a62-840236d02a35" providerId="ADAL" clId="{89F15C5C-D6D2-4B00-8A04-388D2674B328}" dt="2025-11-28T21:41:34.590" v="56"/>
          <ac:spMkLst>
            <pc:docMk/>
            <pc:sldMk cId="2303340894" sldId="273"/>
            <ac:spMk id="2" creationId="{EE9AADDE-E8FC-1A3B-10D0-AF6DA5FBD699}"/>
          </ac:spMkLst>
        </pc:spChg>
        <pc:spChg chg="mod">
          <ac:chgData name="Uppalapati, Karthik" userId="10896c07-e94b-4063-8a62-840236d02a35" providerId="ADAL" clId="{89F15C5C-D6D2-4B00-8A04-388D2674B328}" dt="2025-11-28T21:44:21.368" v="93" actId="20577"/>
          <ac:spMkLst>
            <pc:docMk/>
            <pc:sldMk cId="2303340894" sldId="273"/>
            <ac:spMk id="3" creationId="{A72B1F24-6F6D-5ADC-1A1A-D6A1CAC5AF91}"/>
          </ac:spMkLst>
        </pc:spChg>
      </pc:sldChg>
      <pc:sldChg chg="addSp delSp modSp new mod setBg">
        <pc:chgData name="Uppalapati, Karthik" userId="10896c07-e94b-4063-8a62-840236d02a35" providerId="ADAL" clId="{89F15C5C-D6D2-4B00-8A04-388D2674B328}" dt="2025-11-28T21:50:49.428" v="206" actId="14100"/>
        <pc:sldMkLst>
          <pc:docMk/>
          <pc:sldMk cId="2746588563" sldId="274"/>
        </pc:sldMkLst>
        <pc:spChg chg="del">
          <ac:chgData name="Uppalapati, Karthik" userId="10896c07-e94b-4063-8a62-840236d02a35" providerId="ADAL" clId="{89F15C5C-D6D2-4B00-8A04-388D2674B328}" dt="2025-11-28T21:47:58.970" v="154" actId="478"/>
          <ac:spMkLst>
            <pc:docMk/>
            <pc:sldMk cId="2746588563" sldId="274"/>
            <ac:spMk id="2" creationId="{5DB72CFF-731D-6773-6EF0-B77CA2A9456D}"/>
          </ac:spMkLst>
        </pc:spChg>
        <pc:spChg chg="del mod">
          <ac:chgData name="Uppalapati, Karthik" userId="10896c07-e94b-4063-8a62-840236d02a35" providerId="ADAL" clId="{89F15C5C-D6D2-4B00-8A04-388D2674B328}" dt="2025-11-28T21:48:23.349" v="164" actId="478"/>
          <ac:spMkLst>
            <pc:docMk/>
            <pc:sldMk cId="2746588563" sldId="274"/>
            <ac:spMk id="3" creationId="{A6CF8B7F-21AA-EB59-29BA-35C8C5B66598}"/>
          </ac:spMkLst>
        </pc:spChg>
        <pc:spChg chg="add mod">
          <ac:chgData name="Uppalapati, Karthik" userId="10896c07-e94b-4063-8a62-840236d02a35" providerId="ADAL" clId="{89F15C5C-D6D2-4B00-8A04-388D2674B328}" dt="2025-11-28T21:50:45.602" v="205" actId="403"/>
          <ac:spMkLst>
            <pc:docMk/>
            <pc:sldMk cId="2746588563" sldId="274"/>
            <ac:spMk id="5" creationId="{A95DEFA2-D614-26CD-AA37-1C744520E01F}"/>
          </ac:spMkLst>
        </pc:spChg>
        <pc:spChg chg="add del">
          <ac:chgData name="Uppalapati, Karthik" userId="10896c07-e94b-4063-8a62-840236d02a35" providerId="ADAL" clId="{89F15C5C-D6D2-4B00-8A04-388D2674B328}" dt="2025-11-28T21:50:22.100" v="196" actId="26606"/>
          <ac:spMkLst>
            <pc:docMk/>
            <pc:sldMk cId="2746588563" sldId="274"/>
            <ac:spMk id="20" creationId="{21ECAAB0-702B-4C08-B30F-0AFAC3479ADF}"/>
          </ac:spMkLst>
        </pc:spChg>
        <pc:grpChg chg="add del">
          <ac:chgData name="Uppalapati, Karthik" userId="10896c07-e94b-4063-8a62-840236d02a35" providerId="ADAL" clId="{89F15C5C-D6D2-4B00-8A04-388D2674B328}" dt="2025-11-28T21:50:22.100" v="196" actId="26606"/>
          <ac:grpSpMkLst>
            <pc:docMk/>
            <pc:sldMk cId="2746588563" sldId="274"/>
            <ac:grpSpMk id="12" creationId="{28A4A409-9242-444A-AC1F-809866828B50}"/>
          </ac:grpSpMkLst>
        </pc:grpChg>
        <pc:picChg chg="add mod">
          <ac:chgData name="Uppalapati, Karthik" userId="10896c07-e94b-4063-8a62-840236d02a35" providerId="ADAL" clId="{89F15C5C-D6D2-4B00-8A04-388D2674B328}" dt="2025-11-28T21:50:49.428" v="206" actId="14100"/>
          <ac:picMkLst>
            <pc:docMk/>
            <pc:sldMk cId="2746588563" sldId="274"/>
            <ac:picMk id="7" creationId="{CA945F6D-1E11-8DA8-6518-388787999C4B}"/>
          </ac:picMkLst>
        </pc:picChg>
      </pc:sldChg>
      <pc:sldChg chg="delSp modSp new mod">
        <pc:chgData name="Uppalapati, Karthik" userId="10896c07-e94b-4063-8a62-840236d02a35" providerId="ADAL" clId="{89F15C5C-D6D2-4B00-8A04-388D2674B328}" dt="2025-11-28T21:54:10.251" v="255" actId="27636"/>
        <pc:sldMkLst>
          <pc:docMk/>
          <pc:sldMk cId="2486716543" sldId="275"/>
        </pc:sldMkLst>
        <pc:spChg chg="del">
          <ac:chgData name="Uppalapati, Karthik" userId="10896c07-e94b-4063-8a62-840236d02a35" providerId="ADAL" clId="{89F15C5C-D6D2-4B00-8A04-388D2674B328}" dt="2025-11-28T21:52:02.141" v="210" actId="478"/>
          <ac:spMkLst>
            <pc:docMk/>
            <pc:sldMk cId="2486716543" sldId="275"/>
            <ac:spMk id="2" creationId="{984B6AEC-51AE-80CC-32B3-16B1FAF09543}"/>
          </ac:spMkLst>
        </pc:spChg>
        <pc:spChg chg="mod">
          <ac:chgData name="Uppalapati, Karthik" userId="10896c07-e94b-4063-8a62-840236d02a35" providerId="ADAL" clId="{89F15C5C-D6D2-4B00-8A04-388D2674B328}" dt="2025-11-28T21:54:10.251" v="255" actId="27636"/>
          <ac:spMkLst>
            <pc:docMk/>
            <pc:sldMk cId="2486716543" sldId="275"/>
            <ac:spMk id="3" creationId="{41809D1C-D9A0-00D8-31DD-C315D987D953}"/>
          </ac:spMkLst>
        </pc:spChg>
      </pc:sldChg>
      <pc:sldChg chg="addSp modSp new mod setBg">
        <pc:chgData name="Uppalapati, Karthik" userId="10896c07-e94b-4063-8a62-840236d02a35" providerId="ADAL" clId="{89F15C5C-D6D2-4B00-8A04-388D2674B328}" dt="2025-11-28T21:58:15.821" v="317" actId="1076"/>
        <pc:sldMkLst>
          <pc:docMk/>
          <pc:sldMk cId="3952303697" sldId="276"/>
        </pc:sldMkLst>
        <pc:spChg chg="mod">
          <ac:chgData name="Uppalapati, Karthik" userId="10896c07-e94b-4063-8a62-840236d02a35" providerId="ADAL" clId="{89F15C5C-D6D2-4B00-8A04-388D2674B328}" dt="2025-11-28T21:58:03.992" v="305" actId="1076"/>
          <ac:spMkLst>
            <pc:docMk/>
            <pc:sldMk cId="3952303697" sldId="276"/>
            <ac:spMk id="2" creationId="{C2C364D8-173D-94A1-16C5-C2A5F9CB4C78}"/>
          </ac:spMkLst>
        </pc:spChg>
        <pc:spChg chg="mod">
          <ac:chgData name="Uppalapati, Karthik" userId="10896c07-e94b-4063-8a62-840236d02a35" providerId="ADAL" clId="{89F15C5C-D6D2-4B00-8A04-388D2674B328}" dt="2025-11-28T21:58:15.821" v="317" actId="1076"/>
          <ac:spMkLst>
            <pc:docMk/>
            <pc:sldMk cId="3952303697" sldId="276"/>
            <ac:spMk id="3" creationId="{BE298A2C-0621-03E6-1A79-3C87AC381150}"/>
          </ac:spMkLst>
        </pc:spChg>
        <pc:spChg chg="add">
          <ac:chgData name="Uppalapati, Karthik" userId="10896c07-e94b-4063-8a62-840236d02a35" providerId="ADAL" clId="{89F15C5C-D6D2-4B00-8A04-388D2674B328}" dt="2025-11-28T21:57:49.376" v="299" actId="26606"/>
          <ac:spMkLst>
            <pc:docMk/>
            <pc:sldMk cId="3952303697" sldId="276"/>
            <ac:spMk id="18" creationId="{63A60C88-7443-4827-9241-5019758CB4F0}"/>
          </ac:spMkLst>
        </pc:spChg>
        <pc:grpChg chg="add">
          <ac:chgData name="Uppalapati, Karthik" userId="10896c07-e94b-4063-8a62-840236d02a35" providerId="ADAL" clId="{89F15C5C-D6D2-4B00-8A04-388D2674B328}" dt="2025-11-28T21:57:49.376" v="299" actId="26606"/>
          <ac:grpSpMkLst>
            <pc:docMk/>
            <pc:sldMk cId="3952303697" sldId="276"/>
            <ac:grpSpMk id="10" creationId="{DF8D5C46-63E5-40C5-A208-4B2189FA1032}"/>
          </ac:grpSpMkLst>
        </pc:grpChg>
        <pc:picChg chg="add mod">
          <ac:chgData name="Uppalapati, Karthik" userId="10896c07-e94b-4063-8a62-840236d02a35" providerId="ADAL" clId="{89F15C5C-D6D2-4B00-8A04-388D2674B328}" dt="2025-11-28T21:57:52.942" v="300" actId="27614"/>
          <ac:picMkLst>
            <pc:docMk/>
            <pc:sldMk cId="3952303697" sldId="276"/>
            <ac:picMk id="5" creationId="{A4A4073F-152B-8450-A89C-5893034744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829198-2B67-4518-AAF6-310F7C74D5FF}" type="datetimeFigureOut">
              <a:rPr lang="en-IN" smtClean="0"/>
              <a:t>28-11-2025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2F610-AE5D-498A-8E57-54C37E8B8125}" type="slidenum">
              <a:rPr lang="en-IN" smtClean="0"/>
              <a:t>‹#›</a:t>
            </a:fld>
            <a:endParaRPr lang="en-IN"/>
          </a:p>
        </p:txBody>
      </p:sp>
    </p:spTree>
    <p:extLst>
      <p:ext uri="{BB962C8B-B14F-4D97-AF65-F5344CB8AC3E}">
        <p14:creationId xmlns:p14="http://schemas.microsoft.com/office/powerpoint/2010/main" val="2930461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F2F610-AE5D-498A-8E57-54C37E8B8125}" type="slidenum">
              <a:rPr lang="en-IN" smtClean="0"/>
              <a:t>15</a:t>
            </a:fld>
            <a:endParaRPr lang="en-IN"/>
          </a:p>
        </p:txBody>
      </p:sp>
    </p:spTree>
    <p:extLst>
      <p:ext uri="{BB962C8B-B14F-4D97-AF65-F5344CB8AC3E}">
        <p14:creationId xmlns:p14="http://schemas.microsoft.com/office/powerpoint/2010/main" val="2830648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307943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2016033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588633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CDD8F3-8449-FA49-810E-F648CBC4EA6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2309472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CDD8F3-8449-FA49-810E-F648CBC4EA64}"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4024659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CDD8F3-8449-FA49-810E-F648CBC4EA64}" type="datetimeFigureOut">
              <a:rPr lang="en-US" smtClean="0"/>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344532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CDD8F3-8449-FA49-810E-F648CBC4EA64}" type="datetimeFigureOut">
              <a:rPr lang="en-US" smtClean="0"/>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1621342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CDD8F3-8449-FA49-810E-F648CBC4EA6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2620903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CDD8F3-8449-FA49-810E-F648CBC4EA6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300439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CDD8F3-8449-FA49-810E-F648CBC4EA6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270886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3611238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1487885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1229262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4149624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8376249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3518007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CDD8F3-8449-FA49-810E-F648CBC4EA6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ADDE5-AC0B-2848-A1EF-445A16A985A5}" type="slidenum">
              <a:rPr lang="en-US" smtClean="0"/>
              <a:t>‹#›</a:t>
            </a:fld>
            <a:endParaRPr lang="en-US"/>
          </a:p>
        </p:txBody>
      </p:sp>
    </p:spTree>
    <p:extLst>
      <p:ext uri="{BB962C8B-B14F-4D97-AF65-F5344CB8AC3E}">
        <p14:creationId xmlns:p14="http://schemas.microsoft.com/office/powerpoint/2010/main" val="930805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8CDD8F3-8449-FA49-810E-F648CBC4EA64}" type="datetimeFigureOut">
              <a:rPr lang="en-US" smtClean="0"/>
              <a:t>11/28/2025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D1ADDE5-AC0B-2848-A1EF-445A16A985A5}" type="slidenum">
              <a:rPr lang="en-US" smtClean="0"/>
              <a:t>‹#›</a:t>
            </a:fld>
            <a:endParaRPr lang="en-US"/>
          </a:p>
        </p:txBody>
      </p:sp>
    </p:spTree>
    <p:extLst>
      <p:ext uri="{BB962C8B-B14F-4D97-AF65-F5344CB8AC3E}">
        <p14:creationId xmlns:p14="http://schemas.microsoft.com/office/powerpoint/2010/main" val="3483471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hashank08-spec/Ds-project/blob/main/DSS_Final.ipynb" TargetMode="External"/><Relationship Id="rId2" Type="http://schemas.openxmlformats.org/officeDocument/2006/relationships/hyperlink" Target="https://github.com/shashank08-spec/Ds-project/blob/main/DSS.ipynb"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kaggle.com/datasets/rtatman/188-million-us-wildfir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reghcam.medium.com/analyzing-25-years-of-wildfire-data-in-the-us-b3dd4ef7ec26" TargetMode="External"/><Relationship Id="rId2" Type="http://schemas.openxmlformats.org/officeDocument/2006/relationships/hyperlink" Target="https://www.kaggle.com/datasets/rtatman/188-million-us-wildfires" TargetMode="External"/><Relationship Id="rId1" Type="http://schemas.openxmlformats.org/officeDocument/2006/relationships/slideLayout" Target="../slideLayouts/slideLayout2.xml"/><Relationship Id="rId4" Type="http://schemas.openxmlformats.org/officeDocument/2006/relationships/hyperlink" Target="https://essd.copernicus.org/articles/16/3045/202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58CF2-0B72-6CDD-8BB6-93681517083C}"/>
              </a:ext>
            </a:extLst>
          </p:cNvPr>
          <p:cNvSpPr>
            <a:spLocks noGrp="1"/>
          </p:cNvSpPr>
          <p:nvPr>
            <p:ph type="ctrTitle"/>
          </p:nvPr>
        </p:nvSpPr>
        <p:spPr/>
        <p:txBody>
          <a:bodyPr>
            <a:normAutofit fontScale="90000"/>
          </a:bodyPr>
          <a:lstStyle/>
          <a:p>
            <a:r>
              <a:rPr lang="en-US" dirty="0"/>
              <a:t>SATELLITE DRIVEN WILDFIRE IMPACT ANALYSIS</a:t>
            </a:r>
          </a:p>
        </p:txBody>
      </p:sp>
      <p:sp>
        <p:nvSpPr>
          <p:cNvPr id="3" name="Subtitle 2">
            <a:extLst>
              <a:ext uri="{FF2B5EF4-FFF2-40B4-BE49-F238E27FC236}">
                <a16:creationId xmlns:a16="http://schemas.microsoft.com/office/drawing/2014/main" id="{B66330AE-1637-D088-E062-0FA0F1B3D323}"/>
              </a:ext>
            </a:extLst>
          </p:cNvPr>
          <p:cNvSpPr>
            <a:spLocks noGrp="1"/>
          </p:cNvSpPr>
          <p:nvPr>
            <p:ph type="subTitle" idx="1"/>
          </p:nvPr>
        </p:nvSpPr>
        <p:spPr/>
        <p:txBody>
          <a:bodyPr>
            <a:normAutofit fontScale="85000" lnSpcReduction="20000"/>
          </a:bodyPr>
          <a:lstStyle/>
          <a:p>
            <a:r>
              <a:rPr lang="en-IN" dirty="0"/>
              <a:t>SHASHANK SHIVAKOTI</a:t>
            </a:r>
          </a:p>
          <a:p>
            <a:r>
              <a:rPr lang="en-IN" dirty="0"/>
              <a:t>23103084</a:t>
            </a:r>
          </a:p>
          <a:p>
            <a:r>
              <a:rPr lang="en-IN" dirty="0"/>
              <a:t>M. S. c.  Data Science Student</a:t>
            </a:r>
          </a:p>
          <a:p>
            <a:r>
              <a:rPr lang="en-IN" dirty="0"/>
              <a:t>University of Hertfordshire</a:t>
            </a:r>
            <a:endParaRPr dirty="0"/>
          </a:p>
        </p:txBody>
      </p:sp>
      <p:sp>
        <p:nvSpPr>
          <p:cNvPr id="5" name="TextBox 4">
            <a:extLst>
              <a:ext uri="{FF2B5EF4-FFF2-40B4-BE49-F238E27FC236}">
                <a16:creationId xmlns:a16="http://schemas.microsoft.com/office/drawing/2014/main" id="{D0988F01-200A-8EAD-5C1C-1848C259CB73}"/>
              </a:ext>
            </a:extLst>
          </p:cNvPr>
          <p:cNvSpPr txBox="1"/>
          <p:nvPr/>
        </p:nvSpPr>
        <p:spPr>
          <a:xfrm>
            <a:off x="7215712" y="5966135"/>
            <a:ext cx="4646141" cy="646331"/>
          </a:xfrm>
          <a:prstGeom prst="rect">
            <a:avLst/>
          </a:prstGeom>
          <a:noFill/>
        </p:spPr>
        <p:txBody>
          <a:bodyPr wrap="square" rtlCol="0">
            <a:spAutoFit/>
          </a:bodyPr>
          <a:lstStyle/>
          <a:p>
            <a:r>
              <a:rPr lang="en-US" dirty="0" err="1"/>
              <a:t>Github</a:t>
            </a:r>
            <a:r>
              <a:rPr lang="en-US" dirty="0"/>
              <a:t> link</a:t>
            </a:r>
            <a:r>
              <a:rPr lang="en-US" dirty="0">
                <a:hlinkClick r:id="rId2"/>
              </a:rPr>
              <a:t>: </a:t>
            </a:r>
            <a:r>
              <a:rPr lang="en-US" dirty="0">
                <a:hlinkClick r:id="rId3"/>
              </a:rPr>
              <a:t>https://github.com/shashank08-spec/Ds-project/blob/main/DSS_Final.ipynb</a:t>
            </a:r>
            <a:r>
              <a:rPr lang="en-US" dirty="0"/>
              <a:t> </a:t>
            </a:r>
          </a:p>
        </p:txBody>
      </p:sp>
    </p:spTree>
    <p:extLst>
      <p:ext uri="{BB962C8B-B14F-4D97-AF65-F5344CB8AC3E}">
        <p14:creationId xmlns:p14="http://schemas.microsoft.com/office/powerpoint/2010/main" val="2434398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2EDB5-C0D6-B783-0D3E-C95F7E89607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0B5695C-CAAD-D042-7173-39E6EA2F4500}"/>
              </a:ext>
            </a:extLst>
          </p:cNvPr>
          <p:cNvSpPr>
            <a:spLocks noGrp="1"/>
          </p:cNvSpPr>
          <p:nvPr>
            <p:ph idx="1"/>
          </p:nvPr>
        </p:nvSpPr>
        <p:spPr/>
        <p:txBody>
          <a:bodyPr>
            <a:normAutofit fontScale="92500" lnSpcReduction="10000"/>
          </a:bodyPr>
          <a:lstStyle/>
          <a:p>
            <a:pPr marL="0" indent="0">
              <a:buNone/>
            </a:pPr>
            <a:r>
              <a:rPr lang="en-IN" dirty="0"/>
              <a:t>Motivation:</a:t>
            </a:r>
            <a:br>
              <a:rPr lang="en-US" dirty="0"/>
            </a:br>
            <a:r>
              <a:rPr lang="en-US" dirty="0"/>
              <a:t>For a data science student or professional, this dataset provides an opportunity to work with big real-world data, including tasks like cleaning data, handling geospatial information, and working with time-series data. It also allows for using advanced modeling techniques and data visualization tools, as well as presenting findings in a way that's clear and useful for people who aren't experts in the field.</a:t>
            </a:r>
          </a:p>
          <a:p>
            <a:pPr marL="0" indent="0">
              <a:buNone/>
            </a:pPr>
            <a:r>
              <a:rPr lang="en-US" dirty="0"/>
              <a:t>Research question:</a:t>
            </a:r>
          </a:p>
          <a:p>
            <a:pPr marL="0" indent="0">
              <a:buNone/>
            </a:pPr>
            <a:r>
              <a:rPr lang="en-US" dirty="0"/>
              <a:t>What are the most common causes of wildfires (human, lightning, etc.)?</a:t>
            </a:r>
          </a:p>
          <a:p>
            <a:pPr marL="0" indent="0">
              <a:buNone/>
            </a:pPr>
            <a:endParaRPr dirty="0"/>
          </a:p>
        </p:txBody>
      </p:sp>
    </p:spTree>
    <p:extLst>
      <p:ext uri="{BB962C8B-B14F-4D97-AF65-F5344CB8AC3E}">
        <p14:creationId xmlns:p14="http://schemas.microsoft.com/office/powerpoint/2010/main" val="2927188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F77EC-2432-6E86-E0A9-8921AF332EBB}"/>
              </a:ext>
            </a:extLst>
          </p:cNvPr>
          <p:cNvSpPr>
            <a:spLocks noGrp="1"/>
          </p:cNvSpPr>
          <p:nvPr>
            <p:ph type="title"/>
          </p:nvPr>
        </p:nvSpPr>
        <p:spPr>
          <a:xfrm>
            <a:off x="1335087" y="192506"/>
            <a:ext cx="10018713" cy="1752599"/>
          </a:xfrm>
        </p:spPr>
        <p:txBody>
          <a:bodyPr/>
          <a:lstStyle/>
          <a:p>
            <a:r>
              <a:rPr lang="en-US" dirty="0"/>
              <a:t>Overview if previous work related to the project</a:t>
            </a:r>
          </a:p>
        </p:txBody>
      </p:sp>
      <p:sp>
        <p:nvSpPr>
          <p:cNvPr id="3" name="Content Placeholder 2">
            <a:extLst>
              <a:ext uri="{FF2B5EF4-FFF2-40B4-BE49-F238E27FC236}">
                <a16:creationId xmlns:a16="http://schemas.microsoft.com/office/drawing/2014/main" id="{FB69FA0E-011E-1AFF-D9EB-8F26BC2C6EE7}"/>
              </a:ext>
            </a:extLst>
          </p:cNvPr>
          <p:cNvSpPr>
            <a:spLocks noGrp="1"/>
          </p:cNvSpPr>
          <p:nvPr>
            <p:ph idx="1"/>
          </p:nvPr>
        </p:nvSpPr>
        <p:spPr>
          <a:xfrm>
            <a:off x="1548063" y="1945105"/>
            <a:ext cx="10515600" cy="4667250"/>
          </a:xfrm>
        </p:spPr>
        <p:txBody>
          <a:bodyPr>
            <a:normAutofit fontScale="92500"/>
          </a:bodyPr>
          <a:lstStyle/>
          <a:p>
            <a:r>
              <a:rPr lang="en-US" dirty="0"/>
              <a:t>Title: Spatial wildfire occurrence data for the United States, 1992–2015</a:t>
            </a:r>
          </a:p>
          <a:p>
            <a:r>
              <a:rPr lang="en-US" dirty="0"/>
              <a:t>What they did :Created the official FPA-FOD dataset that's part of the Kaggle wildfire data set. Looked at long-term trends in US wildfires based on size, cause, and location.</a:t>
            </a:r>
          </a:p>
          <a:p>
            <a:r>
              <a:rPr lang="en-US" dirty="0"/>
              <a:t>Relevance to your project: This study forms the basis of the dataset you're using . Your project uses their original data and adds machine learning predictions on top of it.</a:t>
            </a:r>
          </a:p>
          <a:p>
            <a:r>
              <a:rPr lang="en-US" dirty="0"/>
              <a:t>Title: Quantifying the effects of environmental factors on wildfire burned area</a:t>
            </a:r>
          </a:p>
          <a:p>
            <a:r>
              <a:rPr lang="en-IN" dirty="0"/>
              <a:t>What they did:</a:t>
            </a:r>
            <a:r>
              <a:rPr lang="en-US" dirty="0"/>
              <a:t>Used machine learning regression models to examine how environmental factors like temperature, humidity, and wind influence the size of wildfires.</a:t>
            </a:r>
          </a:p>
          <a:p>
            <a:r>
              <a:rPr lang="en-US" dirty="0" err="1"/>
              <a:t>Relevance:You</a:t>
            </a:r>
            <a:r>
              <a:rPr lang="en-US" dirty="0"/>
              <a:t> can compare your machine learning approach, such as </a:t>
            </a:r>
            <a:r>
              <a:rPr lang="en-US" dirty="0" err="1"/>
              <a:t>XGBoost</a:t>
            </a:r>
            <a:r>
              <a:rPr lang="en-US" dirty="0"/>
              <a:t>, with their environmental prediction models.</a:t>
            </a:r>
          </a:p>
          <a:p>
            <a:endParaRPr dirty="0"/>
          </a:p>
        </p:txBody>
      </p:sp>
    </p:spTree>
    <p:extLst>
      <p:ext uri="{BB962C8B-B14F-4D97-AF65-F5344CB8AC3E}">
        <p14:creationId xmlns:p14="http://schemas.microsoft.com/office/powerpoint/2010/main" val="4048527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3D58A-2B92-24C9-CD9B-1B4B9674DAA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51D4559-11BA-8A55-6684-683A2B201A59}"/>
              </a:ext>
            </a:extLst>
          </p:cNvPr>
          <p:cNvSpPr>
            <a:spLocks noGrp="1"/>
          </p:cNvSpPr>
          <p:nvPr>
            <p:ph idx="1"/>
          </p:nvPr>
        </p:nvSpPr>
        <p:spPr/>
        <p:txBody>
          <a:bodyPr/>
          <a:lstStyle/>
          <a:p>
            <a:pPr marL="0" indent="0">
              <a:buNone/>
            </a:pPr>
            <a:r>
              <a:rPr lang="en-US" dirty="0"/>
              <a:t>Title: Wildfire assessment using machine learning algorithms in different regions</a:t>
            </a:r>
          </a:p>
          <a:p>
            <a:pPr marL="0" indent="0">
              <a:buNone/>
            </a:pPr>
            <a:r>
              <a:rPr lang="en-US" dirty="0"/>
              <a:t>What they did : Used machine learning classification models like Random Forest and Decision Trees to categorize wildfire severity.</a:t>
            </a:r>
          </a:p>
          <a:p>
            <a:pPr marL="0" indent="0">
              <a:buNone/>
            </a:pPr>
            <a:r>
              <a:rPr lang="en-US" dirty="0"/>
              <a:t>Relevance : This is similar to your project’s use of ML classification for predicting wildfire size and cause.</a:t>
            </a:r>
            <a:endParaRPr lang="en-IN" dirty="0"/>
          </a:p>
        </p:txBody>
      </p:sp>
    </p:spTree>
    <p:extLst>
      <p:ext uri="{BB962C8B-B14F-4D97-AF65-F5344CB8AC3E}">
        <p14:creationId xmlns:p14="http://schemas.microsoft.com/office/powerpoint/2010/main" val="1434490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437D5-4B83-58A3-ACEB-F12F622828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B78BFA-3CB8-9029-E442-A5996C445770}"/>
              </a:ext>
            </a:extLst>
          </p:cNvPr>
          <p:cNvSpPr txBox="1"/>
          <p:nvPr/>
        </p:nvSpPr>
        <p:spPr>
          <a:xfrm>
            <a:off x="1592595" y="174871"/>
            <a:ext cx="10457793" cy="1323439"/>
          </a:xfrm>
          <a:prstGeom prst="rect">
            <a:avLst/>
          </a:prstGeom>
          <a:noFill/>
        </p:spPr>
        <p:txBody>
          <a:bodyPr wrap="square" rtlCol="0">
            <a:spAutoFit/>
          </a:bodyPr>
          <a:lstStyle/>
          <a:p>
            <a:r>
              <a:rPr lang="en-US" sz="4000" dirty="0"/>
              <a:t>What will you do and how does it compare to the previous work?</a:t>
            </a:r>
          </a:p>
        </p:txBody>
      </p:sp>
      <p:graphicFrame>
        <p:nvGraphicFramePr>
          <p:cNvPr id="2" name="Content Placeholder 1">
            <a:extLst>
              <a:ext uri="{FF2B5EF4-FFF2-40B4-BE49-F238E27FC236}">
                <a16:creationId xmlns:a16="http://schemas.microsoft.com/office/drawing/2014/main" id="{F7CFA754-63AB-349E-AD9F-C58D81597FB2}"/>
              </a:ext>
            </a:extLst>
          </p:cNvPr>
          <p:cNvGraphicFramePr>
            <a:graphicFrameLocks noGrp="1"/>
          </p:cNvGraphicFramePr>
          <p:nvPr>
            <p:ph idx="1"/>
            <p:extLst>
              <p:ext uri="{D42A27DB-BD31-4B8C-83A1-F6EECF244321}">
                <p14:modId xmlns:p14="http://schemas.microsoft.com/office/powerpoint/2010/main" val="3512855656"/>
              </p:ext>
            </p:extLst>
          </p:nvPr>
        </p:nvGraphicFramePr>
        <p:xfrm>
          <a:off x="1854662" y="1498310"/>
          <a:ext cx="9933657" cy="4767274"/>
        </p:xfrm>
        <a:graphic>
          <a:graphicData uri="http://schemas.openxmlformats.org/drawingml/2006/table">
            <a:tbl>
              <a:tblPr firstRow="1" bandRow="1">
                <a:tableStyleId>{5C22544A-7EE6-4342-B048-85BDC9FD1C3A}</a:tableStyleId>
              </a:tblPr>
              <a:tblGrid>
                <a:gridCol w="3311219">
                  <a:extLst>
                    <a:ext uri="{9D8B030D-6E8A-4147-A177-3AD203B41FA5}">
                      <a16:colId xmlns:a16="http://schemas.microsoft.com/office/drawing/2014/main" val="3694710060"/>
                    </a:ext>
                  </a:extLst>
                </a:gridCol>
                <a:gridCol w="3311219">
                  <a:extLst>
                    <a:ext uri="{9D8B030D-6E8A-4147-A177-3AD203B41FA5}">
                      <a16:colId xmlns:a16="http://schemas.microsoft.com/office/drawing/2014/main" val="1793327858"/>
                    </a:ext>
                  </a:extLst>
                </a:gridCol>
                <a:gridCol w="3311219">
                  <a:extLst>
                    <a:ext uri="{9D8B030D-6E8A-4147-A177-3AD203B41FA5}">
                      <a16:colId xmlns:a16="http://schemas.microsoft.com/office/drawing/2014/main" val="2896570568"/>
                    </a:ext>
                  </a:extLst>
                </a:gridCol>
              </a:tblGrid>
              <a:tr h="471709">
                <a:tc>
                  <a:txBody>
                    <a:bodyPr/>
                    <a:lstStyle/>
                    <a:p>
                      <a:pPr rtl="0">
                        <a:buNone/>
                      </a:pPr>
                      <a:r>
                        <a:rPr lang="en-US" sz="1400" b="1" dirty="0">
                          <a:solidFill>
                            <a:srgbClr val="1F1F1F"/>
                          </a:solidFill>
                          <a:effectLst/>
                          <a:latin typeface="Google Sans Text"/>
                        </a:rPr>
                        <a:t>Feature</a:t>
                      </a:r>
                      <a:endParaRPr lang="en-US" sz="1400" dirty="0">
                        <a:solidFill>
                          <a:srgbClr val="1F1F1F"/>
                        </a:solidFill>
                        <a:effectLst/>
                        <a:latin typeface="Google Sans Text"/>
                      </a:endParaRPr>
                    </a:p>
                  </a:txBody>
                  <a:tcPr marL="114300" marR="114300" marT="76200" marB="76200" anchor="ctr"/>
                </a:tc>
                <a:tc>
                  <a:txBody>
                    <a:bodyPr/>
                    <a:lstStyle/>
                    <a:p>
                      <a:pPr rtl="0">
                        <a:buNone/>
                      </a:pPr>
                      <a:r>
                        <a:rPr lang="en-US" sz="1400" b="1">
                          <a:solidFill>
                            <a:srgbClr val="1F1F1F"/>
                          </a:solidFill>
                          <a:effectLst/>
                          <a:latin typeface="Google Sans Text"/>
                        </a:rPr>
                        <a:t>Previous Work / Standard Approaches</a:t>
                      </a:r>
                      <a:endParaRPr lang="en-US" sz="1400">
                        <a:solidFill>
                          <a:srgbClr val="1F1F1F"/>
                        </a:solidFill>
                        <a:effectLst/>
                        <a:latin typeface="Google Sans Text"/>
                      </a:endParaRPr>
                    </a:p>
                  </a:txBody>
                  <a:tcPr marL="114300" marR="114300" marT="76200" marB="76200" anchor="ctr"/>
                </a:tc>
                <a:tc>
                  <a:txBody>
                    <a:bodyPr/>
                    <a:lstStyle/>
                    <a:p>
                      <a:pPr rtl="0">
                        <a:buNone/>
                      </a:pPr>
                      <a:r>
                        <a:rPr lang="en-US" sz="1400" b="1">
                          <a:solidFill>
                            <a:srgbClr val="1F1F1F"/>
                          </a:solidFill>
                          <a:effectLst/>
                          <a:latin typeface="Google Sans Text"/>
                        </a:rPr>
                        <a:t>Your Project (What you are doing)</a:t>
                      </a:r>
                      <a:endParaRPr lang="en-US"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048911375"/>
                  </a:ext>
                </a:extLst>
              </a:tr>
              <a:tr h="840873">
                <a:tc>
                  <a:txBody>
                    <a:bodyPr/>
                    <a:lstStyle/>
                    <a:p>
                      <a:pPr rtl="0">
                        <a:buNone/>
                      </a:pPr>
                      <a:r>
                        <a:rPr lang="en-US" sz="1400" b="1">
                          <a:solidFill>
                            <a:srgbClr val="1F1F1F"/>
                          </a:solidFill>
                          <a:effectLst/>
                          <a:latin typeface="Google Sans Text"/>
                        </a:rPr>
                        <a:t>Prediction Goal</a:t>
                      </a:r>
                      <a:endParaRPr lang="en-US" sz="1400">
                        <a:solidFill>
                          <a:srgbClr val="1F1F1F"/>
                        </a:solidFill>
                        <a:effectLst/>
                        <a:latin typeface="Google Sans Text"/>
                      </a:endParaRPr>
                    </a:p>
                  </a:txBody>
                  <a:tcPr marL="114300" marR="114300" marT="76200" marB="76200" anchor="ctr"/>
                </a:tc>
                <a:tc>
                  <a:txBody>
                    <a:bodyPr/>
                    <a:lstStyle/>
                    <a:p>
                      <a:pPr rtl="0">
                        <a:buNone/>
                      </a:pPr>
                      <a:r>
                        <a:rPr lang="en-US" sz="1400">
                          <a:solidFill>
                            <a:srgbClr val="1F1F1F"/>
                          </a:solidFill>
                          <a:effectLst/>
                          <a:latin typeface="Google Sans Text"/>
                        </a:rPr>
                        <a:t>Often focuses on </a:t>
                      </a:r>
                      <a:r>
                        <a:rPr lang="en-US" sz="1400" b="1">
                          <a:solidFill>
                            <a:srgbClr val="1F1F1F"/>
                          </a:solidFill>
                          <a:effectLst/>
                          <a:latin typeface="Google Sans Text"/>
                        </a:rPr>
                        <a:t>Binary Classification</a:t>
                      </a:r>
                      <a:r>
                        <a:rPr lang="en-US" sz="1400">
                          <a:solidFill>
                            <a:srgbClr val="1F1F1F"/>
                          </a:solidFill>
                          <a:effectLst/>
                          <a:latin typeface="Google Sans Text"/>
                        </a:rPr>
                        <a:t> (Fire vs. No Fire) or </a:t>
                      </a:r>
                      <a:r>
                        <a:rPr lang="en-US" sz="1400" b="1">
                          <a:solidFill>
                            <a:srgbClr val="1F1F1F"/>
                          </a:solidFill>
                          <a:effectLst/>
                          <a:latin typeface="Google Sans Text"/>
                        </a:rPr>
                        <a:t>Regression</a:t>
                      </a:r>
                      <a:r>
                        <a:rPr lang="en-US" sz="1400">
                          <a:solidFill>
                            <a:srgbClr val="1F1F1F"/>
                          </a:solidFill>
                          <a:effectLst/>
                          <a:latin typeface="Google Sans Text"/>
                        </a:rPr>
                        <a:t> (Predicting Burn Area/Cost).</a:t>
                      </a:r>
                    </a:p>
                  </a:txBody>
                  <a:tcPr marL="114300" marR="114300" marT="76200" marB="76200" anchor="ctr"/>
                </a:tc>
                <a:tc>
                  <a:txBody>
                    <a:bodyPr/>
                    <a:lstStyle/>
                    <a:p>
                      <a:pPr rtl="0">
                        <a:buNone/>
                      </a:pPr>
                      <a:r>
                        <a:rPr lang="en-US" sz="1400">
                          <a:solidFill>
                            <a:srgbClr val="1F1F1F"/>
                          </a:solidFill>
                          <a:effectLst/>
                          <a:latin typeface="Google Sans Text"/>
                        </a:rPr>
                        <a:t>Focuses on </a:t>
                      </a:r>
                      <a:r>
                        <a:rPr lang="en-US" sz="1400" b="1">
                          <a:solidFill>
                            <a:srgbClr val="1F1F1F"/>
                          </a:solidFill>
                          <a:effectLst/>
                          <a:latin typeface="Google Sans Text"/>
                        </a:rPr>
                        <a:t>Multi-Class Classification</a:t>
                      </a:r>
                      <a:r>
                        <a:rPr lang="en-US" sz="1400">
                          <a:solidFill>
                            <a:srgbClr val="1F1F1F"/>
                          </a:solidFill>
                          <a:effectLst/>
                          <a:latin typeface="Google Sans Text"/>
                        </a:rPr>
                        <a:t> (Determining the </a:t>
                      </a:r>
                      <a:r>
                        <a:rPr lang="en-US" sz="1400" i="1">
                          <a:solidFill>
                            <a:srgbClr val="1F1F1F"/>
                          </a:solidFill>
                          <a:effectLst/>
                          <a:latin typeface="Google Sans Text"/>
                        </a:rPr>
                        <a:t>specific</a:t>
                      </a:r>
                      <a:r>
                        <a:rPr lang="en-US" sz="1400">
                          <a:solidFill>
                            <a:srgbClr val="1F1F1F"/>
                          </a:solidFill>
                          <a:effectLst/>
                          <a:latin typeface="Google Sans Text"/>
                        </a:rPr>
                        <a:t> ignition source among 13 categories).</a:t>
                      </a:r>
                    </a:p>
                  </a:txBody>
                  <a:tcPr marL="114300" marR="114300" marT="76200" marB="76200" anchor="ctr"/>
                </a:tc>
                <a:extLst>
                  <a:ext uri="{0D108BD9-81ED-4DB2-BD59-A6C34878D82A}">
                    <a16:rowId xmlns:a16="http://schemas.microsoft.com/office/drawing/2014/main" val="2599488483"/>
                  </a:ext>
                </a:extLst>
              </a:tr>
              <a:tr h="1210037">
                <a:tc>
                  <a:txBody>
                    <a:bodyPr/>
                    <a:lstStyle/>
                    <a:p>
                      <a:pPr rtl="0">
                        <a:buNone/>
                      </a:pPr>
                      <a:r>
                        <a:rPr lang="en-US" sz="1400" b="1">
                          <a:solidFill>
                            <a:srgbClr val="1F1F1F"/>
                          </a:solidFill>
                          <a:effectLst/>
                          <a:latin typeface="Google Sans Text"/>
                        </a:rPr>
                        <a:t>Data Requirements</a:t>
                      </a:r>
                      <a:endParaRPr lang="en-US" sz="1400">
                        <a:solidFill>
                          <a:srgbClr val="1F1F1F"/>
                        </a:solidFill>
                        <a:effectLst/>
                        <a:latin typeface="Google Sans Text"/>
                      </a:endParaRPr>
                    </a:p>
                  </a:txBody>
                  <a:tcPr marL="114300" marR="114300" marT="76200" marB="76200" anchor="ctr"/>
                </a:tc>
                <a:tc>
                  <a:txBody>
                    <a:bodyPr/>
                    <a:lstStyle/>
                    <a:p>
                      <a:pPr rtl="0">
                        <a:buNone/>
                      </a:pPr>
                      <a:r>
                        <a:rPr lang="en-US" sz="1400" dirty="0">
                          <a:solidFill>
                            <a:srgbClr val="1F1F1F"/>
                          </a:solidFill>
                          <a:effectLst/>
                          <a:latin typeface="Google Sans Text"/>
                        </a:rPr>
                        <a:t>Frequently relies on </a:t>
                      </a:r>
                      <a:r>
                        <a:rPr lang="en-US" sz="1400" b="1" dirty="0">
                          <a:solidFill>
                            <a:srgbClr val="1F1F1F"/>
                          </a:solidFill>
                          <a:effectLst/>
                          <a:latin typeface="Google Sans Text"/>
                        </a:rPr>
                        <a:t>Meteorological Data</a:t>
                      </a:r>
                      <a:r>
                        <a:rPr lang="en-US" sz="1400" dirty="0">
                          <a:solidFill>
                            <a:srgbClr val="1F1F1F"/>
                          </a:solidFill>
                          <a:effectLst/>
                          <a:latin typeface="Google Sans Text"/>
                        </a:rPr>
                        <a:t> (Wind speed, Humidity, Temperature) which can be hard to obtain historically or in real-time.</a:t>
                      </a:r>
                    </a:p>
                  </a:txBody>
                  <a:tcPr marL="114300" marR="114300" marT="76200" marB="76200" anchor="ctr"/>
                </a:tc>
                <a:tc>
                  <a:txBody>
                    <a:bodyPr/>
                    <a:lstStyle/>
                    <a:p>
                      <a:pPr rtl="0">
                        <a:buNone/>
                      </a:pPr>
                      <a:r>
                        <a:rPr lang="en-US" sz="1400">
                          <a:solidFill>
                            <a:srgbClr val="1F1F1F"/>
                          </a:solidFill>
                          <a:effectLst/>
                          <a:latin typeface="Google Sans Text"/>
                        </a:rPr>
                        <a:t>Relies </a:t>
                      </a:r>
                      <a:r>
                        <a:rPr lang="en-US" sz="1400" b="1">
                          <a:solidFill>
                            <a:srgbClr val="1F1F1F"/>
                          </a:solidFill>
                          <a:effectLst/>
                          <a:latin typeface="Google Sans Text"/>
                        </a:rPr>
                        <a:t>solely on Spatiotemporal Metadata</a:t>
                      </a:r>
                      <a:r>
                        <a:rPr lang="en-US" sz="1400">
                          <a:solidFill>
                            <a:srgbClr val="1F1F1F"/>
                          </a:solidFill>
                          <a:effectLst/>
                          <a:latin typeface="Google Sans Text"/>
                        </a:rPr>
                        <a:t> (Discovery Date, Location). This makes your model a lightweight "forensic triage" tool that works instantly without external weather data.</a:t>
                      </a:r>
                    </a:p>
                  </a:txBody>
                  <a:tcPr marL="114300" marR="114300" marT="76200" marB="76200" anchor="ctr"/>
                </a:tc>
                <a:extLst>
                  <a:ext uri="{0D108BD9-81ED-4DB2-BD59-A6C34878D82A}">
                    <a16:rowId xmlns:a16="http://schemas.microsoft.com/office/drawing/2014/main" val="2801424864"/>
                  </a:ext>
                </a:extLst>
              </a:tr>
              <a:tr h="1210037">
                <a:tc>
                  <a:txBody>
                    <a:bodyPr/>
                    <a:lstStyle/>
                    <a:p>
                      <a:pPr rtl="0">
                        <a:buNone/>
                      </a:pPr>
                      <a:r>
                        <a:rPr lang="en-US" sz="1400" b="1">
                          <a:solidFill>
                            <a:srgbClr val="1F1F1F"/>
                          </a:solidFill>
                          <a:effectLst/>
                          <a:latin typeface="Google Sans Text"/>
                        </a:rPr>
                        <a:t>Feature Engineering</a:t>
                      </a:r>
                      <a:endParaRPr lang="en-US" sz="1400">
                        <a:solidFill>
                          <a:srgbClr val="1F1F1F"/>
                        </a:solidFill>
                        <a:effectLst/>
                        <a:latin typeface="Google Sans Text"/>
                      </a:endParaRPr>
                    </a:p>
                  </a:txBody>
                  <a:tcPr marL="114300" marR="114300" marT="76200" marB="76200" anchor="ctr"/>
                </a:tc>
                <a:tc>
                  <a:txBody>
                    <a:bodyPr/>
                    <a:lstStyle/>
                    <a:p>
                      <a:pPr rtl="0">
                        <a:buNone/>
                      </a:pPr>
                      <a:r>
                        <a:rPr lang="en-US" sz="1400" dirty="0">
                          <a:solidFill>
                            <a:srgbClr val="1F1F1F"/>
                          </a:solidFill>
                          <a:effectLst/>
                          <a:latin typeface="Google Sans Text"/>
                        </a:rPr>
                        <a:t>Often uses raw Latitude/Longitude, which decision trees can struggle to split effectively.</a:t>
                      </a:r>
                    </a:p>
                  </a:txBody>
                  <a:tcPr marL="114300" marR="114300" marT="76200" marB="76200" anchor="ctr"/>
                </a:tc>
                <a:tc>
                  <a:txBody>
                    <a:bodyPr/>
                    <a:lstStyle/>
                    <a:p>
                      <a:pPr rtl="0">
                        <a:buNone/>
                      </a:pPr>
                      <a:r>
                        <a:rPr lang="en-US" sz="1400">
                          <a:solidFill>
                            <a:srgbClr val="1F1F1F"/>
                          </a:solidFill>
                          <a:effectLst/>
                          <a:latin typeface="Google Sans Text"/>
                        </a:rPr>
                        <a:t>Uses </a:t>
                      </a:r>
                      <a:r>
                        <a:rPr lang="en-US" sz="1400" b="1">
                          <a:solidFill>
                            <a:srgbClr val="1F1F1F"/>
                          </a:solidFill>
                          <a:effectLst/>
                          <a:latin typeface="Google Sans Text"/>
                        </a:rPr>
                        <a:t>K-Means Geo-Clustering</a:t>
                      </a:r>
                      <a:r>
                        <a:rPr lang="en-US" sz="1400">
                          <a:solidFill>
                            <a:srgbClr val="1F1F1F"/>
                          </a:solidFill>
                          <a:effectLst/>
                          <a:latin typeface="Google Sans Text"/>
                        </a:rPr>
                        <a:t>, converting raw coordinates into meaningful "regions" (biomes), capturing local patterns (e.g., "Southeast Arson Belt") more effectively.</a:t>
                      </a:r>
                    </a:p>
                  </a:txBody>
                  <a:tcPr marL="114300" marR="114300" marT="76200" marB="76200" anchor="ctr"/>
                </a:tc>
                <a:extLst>
                  <a:ext uri="{0D108BD9-81ED-4DB2-BD59-A6C34878D82A}">
                    <a16:rowId xmlns:a16="http://schemas.microsoft.com/office/drawing/2014/main" val="3498412262"/>
                  </a:ext>
                </a:extLst>
              </a:tr>
              <a:tr h="1025455">
                <a:tc>
                  <a:txBody>
                    <a:bodyPr/>
                    <a:lstStyle/>
                    <a:p>
                      <a:pPr rtl="0">
                        <a:buNone/>
                      </a:pPr>
                      <a:r>
                        <a:rPr lang="en-US" sz="1400" b="1">
                          <a:solidFill>
                            <a:srgbClr val="1F1F1F"/>
                          </a:solidFill>
                          <a:effectLst/>
                          <a:latin typeface="Google Sans Text"/>
                        </a:rPr>
                        <a:t>Handling Imbalance</a:t>
                      </a:r>
                      <a:endParaRPr lang="en-US" sz="1400">
                        <a:solidFill>
                          <a:srgbClr val="1F1F1F"/>
                        </a:solidFill>
                        <a:effectLst/>
                        <a:latin typeface="Google Sans Text"/>
                      </a:endParaRPr>
                    </a:p>
                  </a:txBody>
                  <a:tcPr marL="114300" marR="114300" marT="76200" marB="76200" anchor="ctr"/>
                </a:tc>
                <a:tc>
                  <a:txBody>
                    <a:bodyPr/>
                    <a:lstStyle/>
                    <a:p>
                      <a:pPr rtl="0">
                        <a:buNone/>
                      </a:pPr>
                      <a:r>
                        <a:rPr lang="en-US" sz="1400" dirty="0">
                          <a:solidFill>
                            <a:srgbClr val="1F1F1F"/>
                          </a:solidFill>
                          <a:effectLst/>
                          <a:latin typeface="Google Sans Text"/>
                        </a:rPr>
                        <a:t>Many studies ignore class imbalance, leading to models that only predict common fires well.</a:t>
                      </a:r>
                    </a:p>
                  </a:txBody>
                  <a:tcPr marL="114300" marR="114300" marT="76200" marB="76200" anchor="ctr"/>
                </a:tc>
                <a:tc>
                  <a:txBody>
                    <a:bodyPr/>
                    <a:lstStyle/>
                    <a:p>
                      <a:pPr rtl="0">
                        <a:buNone/>
                      </a:pPr>
                      <a:r>
                        <a:rPr lang="en-US" sz="1400" dirty="0">
                          <a:solidFill>
                            <a:srgbClr val="1F1F1F"/>
                          </a:solidFill>
                          <a:effectLst/>
                          <a:latin typeface="Google Sans Text"/>
                        </a:rPr>
                        <a:t>explicitly uses </a:t>
                      </a:r>
                      <a:r>
                        <a:rPr lang="en-US" sz="1400" b="1" dirty="0">
                          <a:solidFill>
                            <a:srgbClr val="1F1F1F"/>
                          </a:solidFill>
                          <a:effectLst/>
                          <a:latin typeface="Google Sans Text"/>
                        </a:rPr>
                        <a:t>SMOTE</a:t>
                      </a:r>
                      <a:r>
                        <a:rPr lang="en-US" sz="1400" dirty="0">
                          <a:solidFill>
                            <a:srgbClr val="1F1F1F"/>
                          </a:solidFill>
                          <a:effectLst/>
                          <a:latin typeface="Google Sans Text"/>
                        </a:rPr>
                        <a:t> to balance the dataset, prioritizing the detection of rare but critical causes like "Campfires" or "Fireworks."</a:t>
                      </a:r>
                    </a:p>
                  </a:txBody>
                  <a:tcPr marL="114300" marR="114300" marT="76200" marB="76200" anchor="ctr"/>
                </a:tc>
                <a:extLst>
                  <a:ext uri="{0D108BD9-81ED-4DB2-BD59-A6C34878D82A}">
                    <a16:rowId xmlns:a16="http://schemas.microsoft.com/office/drawing/2014/main" val="933961532"/>
                  </a:ext>
                </a:extLst>
              </a:tr>
            </a:tbl>
          </a:graphicData>
        </a:graphic>
      </p:graphicFrame>
    </p:spTree>
    <p:extLst>
      <p:ext uri="{BB962C8B-B14F-4D97-AF65-F5344CB8AC3E}">
        <p14:creationId xmlns:p14="http://schemas.microsoft.com/office/powerpoint/2010/main" val="2918208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426B6-E9B0-D5A2-8124-A745128F6CB5}"/>
              </a:ext>
            </a:extLst>
          </p:cNvPr>
          <p:cNvSpPr>
            <a:spLocks noGrp="1"/>
          </p:cNvSpPr>
          <p:nvPr>
            <p:ph type="title"/>
          </p:nvPr>
        </p:nvSpPr>
        <p:spPr/>
        <p:txBody>
          <a:bodyPr/>
          <a:lstStyle/>
          <a:p>
            <a:r>
              <a:rPr lang="en-US" dirty="0"/>
              <a:t>Dataset</a:t>
            </a:r>
          </a:p>
        </p:txBody>
      </p:sp>
      <p:sp>
        <p:nvSpPr>
          <p:cNvPr id="3" name="Content Placeholder 2">
            <a:extLst>
              <a:ext uri="{FF2B5EF4-FFF2-40B4-BE49-F238E27FC236}">
                <a16:creationId xmlns:a16="http://schemas.microsoft.com/office/drawing/2014/main" id="{A9B9B480-6BF8-A786-A20B-4038D908FAA8}"/>
              </a:ext>
            </a:extLst>
          </p:cNvPr>
          <p:cNvSpPr>
            <a:spLocks noGrp="1"/>
          </p:cNvSpPr>
          <p:nvPr>
            <p:ph idx="1"/>
          </p:nvPr>
        </p:nvSpPr>
        <p:spPr>
          <a:xfrm>
            <a:off x="1484310" y="1852863"/>
            <a:ext cx="10246479" cy="4776537"/>
          </a:xfrm>
        </p:spPr>
        <p:txBody>
          <a:bodyPr>
            <a:normAutofit/>
          </a:bodyPr>
          <a:lstStyle/>
          <a:p>
            <a:r>
              <a:rPr lang="en-IN" dirty="0"/>
              <a:t>Dataset</a:t>
            </a:r>
          </a:p>
          <a:p>
            <a:r>
              <a:rPr lang="en-IN" dirty="0"/>
              <a:t>Source: </a:t>
            </a:r>
            <a:r>
              <a:rPr lang="da-DK" dirty="0"/>
              <a:t>US Forest Service (via Kaggle).</a:t>
            </a:r>
          </a:p>
          <a:p>
            <a:r>
              <a:rPr lang="en-US" dirty="0"/>
              <a:t>Scope: 1.88 Million wildfires from 1992 to 2015.</a:t>
            </a:r>
            <a:endParaRPr lang="en-IN" dirty="0"/>
          </a:p>
          <a:p>
            <a:r>
              <a:rPr lang="en-IN" dirty="0"/>
              <a:t>Type: SQLite DB(Tabular Data)</a:t>
            </a:r>
          </a:p>
          <a:p>
            <a:r>
              <a:rPr lang="en-US" dirty="0"/>
              <a:t>Key Features: Discovery Date (Julian), Latitude, Longitude, State.</a:t>
            </a:r>
          </a:p>
          <a:p>
            <a:r>
              <a:rPr lang="en-IN" dirty="0"/>
              <a:t>Target Variable: STAT_CAUSE_DESCR (13 categories including Arson, Campfire, Smoking, Lightning, etc.).</a:t>
            </a:r>
          </a:p>
          <a:p>
            <a:r>
              <a:rPr lang="en-IN" dirty="0"/>
              <a:t>Size: 795.79 MB</a:t>
            </a:r>
          </a:p>
          <a:p>
            <a:r>
              <a:rPr lang="en-IN" dirty="0"/>
              <a:t>Link:  </a:t>
            </a:r>
            <a:r>
              <a:rPr lang="en-IN" dirty="0">
                <a:hlinkClick r:id="rId2"/>
              </a:rPr>
              <a:t>https://www.kaggle.com/datasets/rtatman/188-million-us-wildfires </a:t>
            </a:r>
            <a:endParaRPr lang="en-IN" dirty="0"/>
          </a:p>
          <a:p>
            <a:endParaRPr dirty="0"/>
          </a:p>
        </p:txBody>
      </p:sp>
    </p:spTree>
    <p:extLst>
      <p:ext uri="{BB962C8B-B14F-4D97-AF65-F5344CB8AC3E}">
        <p14:creationId xmlns:p14="http://schemas.microsoft.com/office/powerpoint/2010/main" val="3479996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B7A5-99E8-F2EE-7A81-A8EE28168BEB}"/>
              </a:ext>
            </a:extLst>
          </p:cNvPr>
          <p:cNvSpPr>
            <a:spLocks noGrp="1"/>
          </p:cNvSpPr>
          <p:nvPr>
            <p:ph type="title"/>
          </p:nvPr>
        </p:nvSpPr>
        <p:spPr>
          <a:xfrm>
            <a:off x="1484310" y="-132348"/>
            <a:ext cx="10018713" cy="1752599"/>
          </a:xfrm>
        </p:spPr>
        <p:txBody>
          <a:bodyPr/>
          <a:lstStyle/>
          <a:p>
            <a:r>
              <a:rPr lang="en-US" dirty="0"/>
              <a:t>Ethical implications </a:t>
            </a:r>
          </a:p>
        </p:txBody>
      </p:sp>
      <p:sp>
        <p:nvSpPr>
          <p:cNvPr id="3" name="Content Placeholder 2">
            <a:extLst>
              <a:ext uri="{FF2B5EF4-FFF2-40B4-BE49-F238E27FC236}">
                <a16:creationId xmlns:a16="http://schemas.microsoft.com/office/drawing/2014/main" id="{219276F5-A5DE-37A7-D774-E7635FDC0FA2}"/>
              </a:ext>
            </a:extLst>
          </p:cNvPr>
          <p:cNvSpPr>
            <a:spLocks noGrp="1"/>
          </p:cNvSpPr>
          <p:nvPr>
            <p:ph idx="1"/>
          </p:nvPr>
        </p:nvSpPr>
        <p:spPr>
          <a:xfrm>
            <a:off x="1588168" y="1155032"/>
            <a:ext cx="10250906" cy="5702968"/>
          </a:xfrm>
        </p:spPr>
        <p:txBody>
          <a:bodyPr>
            <a:normAutofit fontScale="92500" lnSpcReduction="20000"/>
          </a:bodyPr>
          <a:lstStyle/>
          <a:p>
            <a:r>
              <a:rPr lang="en-US" sz="2600" dirty="0"/>
              <a:t>Dataset contains no personal data</a:t>
            </a:r>
          </a:p>
          <a:p>
            <a:r>
              <a:rPr lang="en-US" sz="2600" dirty="0"/>
              <a:t>Publicly available; licensed for research use</a:t>
            </a:r>
          </a:p>
          <a:p>
            <a:r>
              <a:rPr lang="en-US" sz="2600" dirty="0"/>
              <a:t>Fully anonymized wildfire records</a:t>
            </a:r>
          </a:p>
          <a:p>
            <a:r>
              <a:rPr lang="en-US" sz="2600" dirty="0"/>
              <a:t>Stored securely and used only for academic purposes</a:t>
            </a:r>
          </a:p>
          <a:p>
            <a:r>
              <a:rPr lang="en-US" sz="2600" dirty="0"/>
              <a:t>Potential Risks</a:t>
            </a:r>
          </a:p>
          <a:p>
            <a:pPr lvl="1"/>
            <a:r>
              <a:rPr lang="en-US" sz="2200" dirty="0"/>
              <a:t>Automation Bias: Investigators might depend too much on the model's results, which could cause them to miss important clues that go against what the model says.</a:t>
            </a:r>
          </a:p>
          <a:p>
            <a:pPr lvl="1"/>
            <a:r>
              <a:rPr lang="en-US" sz="2200" dirty="0"/>
              <a:t>False Accusations: If the model wrongly says "Arson," it might lead to unfair targeting of people who are actually innocent or members of certain communities.</a:t>
            </a:r>
          </a:p>
          <a:p>
            <a:r>
              <a:rPr lang="en-US" sz="2600" dirty="0"/>
              <a:t>Mitigation Strategies</a:t>
            </a:r>
          </a:p>
          <a:p>
            <a:pPr lvl="1"/>
            <a:r>
              <a:rPr lang="en-US" sz="2200" dirty="0"/>
              <a:t>Triage Tool Only: The model is meant to help with investigations, but it can't take the place of actual forensic work.</a:t>
            </a:r>
          </a:p>
          <a:p>
            <a:pPr lvl="1"/>
            <a:r>
              <a:rPr lang="en-US" sz="2200" dirty="0"/>
              <a:t>No PII: The data used is completely anonymous and comes from public land sources, keeping personal information safe.</a:t>
            </a:r>
          </a:p>
          <a:p>
            <a:pPr lvl="1"/>
            <a:r>
              <a:rPr lang="en-US" sz="2200" dirty="0"/>
              <a:t>Human Oversight: The final decision about the cause has to be made by human experts.</a:t>
            </a:r>
          </a:p>
          <a:p>
            <a:endParaRPr lang="en-US" dirty="0"/>
          </a:p>
        </p:txBody>
      </p:sp>
    </p:spTree>
    <p:extLst>
      <p:ext uri="{BB962C8B-B14F-4D97-AF65-F5344CB8AC3E}">
        <p14:creationId xmlns:p14="http://schemas.microsoft.com/office/powerpoint/2010/main" val="72817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AADDE-E8FC-1A3B-10D0-AF6DA5FBD699}"/>
              </a:ext>
            </a:extLst>
          </p:cNvPr>
          <p:cNvSpPr>
            <a:spLocks noGrp="1"/>
          </p:cNvSpPr>
          <p:nvPr>
            <p:ph type="title"/>
          </p:nvPr>
        </p:nvSpPr>
        <p:spPr/>
        <p:txBody>
          <a:bodyPr/>
          <a:lstStyle/>
          <a:p>
            <a:r>
              <a:rPr lang="en-US" dirty="0"/>
              <a:t>Exploratory Data Analysis</a:t>
            </a:r>
          </a:p>
        </p:txBody>
      </p:sp>
      <p:sp>
        <p:nvSpPr>
          <p:cNvPr id="3" name="Content Placeholder 2">
            <a:extLst>
              <a:ext uri="{FF2B5EF4-FFF2-40B4-BE49-F238E27FC236}">
                <a16:creationId xmlns:a16="http://schemas.microsoft.com/office/drawing/2014/main" id="{A72B1F24-6F6D-5ADC-1A1A-D6A1CAC5AF91}"/>
              </a:ext>
            </a:extLst>
          </p:cNvPr>
          <p:cNvSpPr>
            <a:spLocks noGrp="1"/>
          </p:cNvSpPr>
          <p:nvPr>
            <p:ph idx="1"/>
          </p:nvPr>
        </p:nvSpPr>
        <p:spPr/>
        <p:txBody>
          <a:bodyPr/>
          <a:lstStyle/>
          <a:p>
            <a:r>
              <a:rPr lang="en-US" dirty="0"/>
              <a:t>Pattern Discovery</a:t>
            </a:r>
          </a:p>
          <a:p>
            <a:pPr lvl="1"/>
            <a:r>
              <a:rPr lang="en-US" dirty="0"/>
              <a:t>Severe Imbalance: Most of the human-made fires are caused by "Debris Burning" and "Arson," but "Structure" and "Fireworks" are not very common.</a:t>
            </a:r>
          </a:p>
          <a:p>
            <a:pPr lvl="1"/>
            <a:r>
              <a:rPr lang="en-US" dirty="0"/>
              <a:t>Temporal Logic: Lightning strikes are most common during the summer months, from July to August. Burning of debris happens mostly in spring and fall, when people clear fields and farms.</a:t>
            </a:r>
          </a:p>
          <a:p>
            <a:pPr lvl="1"/>
            <a:r>
              <a:rPr lang="en-US" dirty="0"/>
              <a:t>Spatial Logic: Arson cases are mostly found in the Southeast part of the United States; lightning is the main cause in the mountain areas of the West.</a:t>
            </a:r>
          </a:p>
        </p:txBody>
      </p:sp>
    </p:spTree>
    <p:extLst>
      <p:ext uri="{BB962C8B-B14F-4D97-AF65-F5344CB8AC3E}">
        <p14:creationId xmlns:p14="http://schemas.microsoft.com/office/powerpoint/2010/main" val="2303340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E21-1C4B-CB0C-E320-283EF711D0B0}"/>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EDA</a:t>
            </a:r>
          </a:p>
        </p:txBody>
      </p:sp>
      <p:pic>
        <p:nvPicPr>
          <p:cNvPr id="7" name="Content Placeholder 6" descr="A graph of a number of blue bars&#10;&#10;AI-generated content may be incorrect.">
            <a:extLst>
              <a:ext uri="{FF2B5EF4-FFF2-40B4-BE49-F238E27FC236}">
                <a16:creationId xmlns:a16="http://schemas.microsoft.com/office/drawing/2014/main" id="{C524B7A9-98F2-C92F-B4C3-597FAF6FFDAA}"/>
              </a:ext>
            </a:extLst>
          </p:cNvPr>
          <p:cNvPicPr>
            <a:picLocks noGrp="1" noChangeAspect="1"/>
          </p:cNvPicPr>
          <p:nvPr>
            <p:ph idx="1"/>
          </p:nvPr>
        </p:nvPicPr>
        <p:blipFill>
          <a:blip r:embed="rId2"/>
          <a:stretch>
            <a:fillRect/>
          </a:stretch>
        </p:blipFill>
        <p:spPr>
          <a:xfrm>
            <a:off x="199221" y="2365285"/>
            <a:ext cx="5792287" cy="3938756"/>
          </a:xfrm>
          <a:prstGeom prst="rect">
            <a:avLst/>
          </a:prstGeom>
        </p:spPr>
      </p:pic>
      <p:pic>
        <p:nvPicPr>
          <p:cNvPr id="9" name="Picture 8" descr="A graph showing the growth of the fire&#10;&#10;AI-generated content may be incorrect.">
            <a:extLst>
              <a:ext uri="{FF2B5EF4-FFF2-40B4-BE49-F238E27FC236}">
                <a16:creationId xmlns:a16="http://schemas.microsoft.com/office/drawing/2014/main" id="{5BC02C59-0F49-A8C8-6E3C-728CC9CD44B4}"/>
              </a:ext>
            </a:extLst>
          </p:cNvPr>
          <p:cNvPicPr>
            <a:picLocks noChangeAspect="1"/>
          </p:cNvPicPr>
          <p:nvPr/>
        </p:nvPicPr>
        <p:blipFill>
          <a:blip r:embed="rId3"/>
          <a:stretch>
            <a:fillRect/>
          </a:stretch>
        </p:blipFill>
        <p:spPr>
          <a:xfrm>
            <a:off x="6182505" y="3023305"/>
            <a:ext cx="5828261" cy="2622716"/>
          </a:xfrm>
          <a:prstGeom prst="rect">
            <a:avLst/>
          </a:prstGeom>
        </p:spPr>
      </p:pic>
    </p:spTree>
    <p:extLst>
      <p:ext uri="{BB962C8B-B14F-4D97-AF65-F5344CB8AC3E}">
        <p14:creationId xmlns:p14="http://schemas.microsoft.com/office/powerpoint/2010/main" val="1823701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CD931-EA22-F2EA-E147-9DE9EDB09435}"/>
              </a:ext>
            </a:extLst>
          </p:cNvPr>
          <p:cNvSpPr>
            <a:spLocks noGrp="1"/>
          </p:cNvSpPr>
          <p:nvPr>
            <p:ph type="title"/>
          </p:nvPr>
        </p:nvSpPr>
        <p:spPr>
          <a:xfrm>
            <a:off x="1484310" y="0"/>
            <a:ext cx="10018713" cy="1752599"/>
          </a:xfrm>
        </p:spPr>
        <p:txBody>
          <a:bodyPr/>
          <a:lstStyle/>
          <a:p>
            <a:r>
              <a:rPr lang="en-US" dirty="0"/>
              <a:t>Pre-processing</a:t>
            </a:r>
          </a:p>
        </p:txBody>
      </p:sp>
      <p:sp>
        <p:nvSpPr>
          <p:cNvPr id="3" name="Content Placeholder 2">
            <a:extLst>
              <a:ext uri="{FF2B5EF4-FFF2-40B4-BE49-F238E27FC236}">
                <a16:creationId xmlns:a16="http://schemas.microsoft.com/office/drawing/2014/main" id="{BDF499C4-9E24-4376-05D3-2219D139E40C}"/>
              </a:ext>
            </a:extLst>
          </p:cNvPr>
          <p:cNvSpPr>
            <a:spLocks noGrp="1"/>
          </p:cNvSpPr>
          <p:nvPr>
            <p:ph idx="1"/>
          </p:nvPr>
        </p:nvSpPr>
        <p:spPr>
          <a:xfrm>
            <a:off x="1484310" y="1752599"/>
            <a:ext cx="10707690" cy="5105401"/>
          </a:xfrm>
        </p:spPr>
        <p:txBody>
          <a:bodyPr>
            <a:normAutofit/>
          </a:bodyPr>
          <a:lstStyle/>
          <a:p>
            <a:pPr marL="0" indent="0">
              <a:buNone/>
            </a:pPr>
            <a:r>
              <a:rPr lang="en-US" dirty="0"/>
              <a:t>• Missing values handled</a:t>
            </a:r>
          </a:p>
          <a:p>
            <a:pPr marL="0" indent="0">
              <a:buNone/>
            </a:pPr>
            <a:r>
              <a:rPr lang="en-US" dirty="0"/>
              <a:t>• Label encoding for categories</a:t>
            </a:r>
          </a:p>
          <a:p>
            <a:pPr marL="0" indent="0">
              <a:buNone/>
            </a:pPr>
            <a:r>
              <a:rPr lang="en-US" dirty="0"/>
              <a:t>• Feature engineering (</a:t>
            </a:r>
            <a:r>
              <a:rPr lang="en-US" dirty="0" err="1"/>
              <a:t>Geo_clusters</a:t>
            </a:r>
            <a:r>
              <a:rPr lang="en-US" dirty="0"/>
              <a:t>)</a:t>
            </a:r>
          </a:p>
          <a:p>
            <a:pPr marL="0" indent="0">
              <a:buNone/>
            </a:pPr>
            <a:r>
              <a:rPr lang="en-US" dirty="0"/>
              <a:t>• Temporal Extraction:</a:t>
            </a:r>
          </a:p>
          <a:p>
            <a:pPr lvl="1"/>
            <a:r>
              <a:rPr lang="en-US" dirty="0"/>
              <a:t>Turned raw Julian Dates into repeating time features like Month, Day of the Week, and Season. This helps show how people act and how weather changes throughout the year.</a:t>
            </a:r>
          </a:p>
          <a:p>
            <a:r>
              <a:rPr lang="en-IN" dirty="0"/>
              <a:t>Spatial Clustering</a:t>
            </a:r>
          </a:p>
          <a:p>
            <a:pPr lvl="1"/>
            <a:r>
              <a:rPr lang="en-US" dirty="0"/>
              <a:t>Problem: Latitude and longitude are smooth numbers that make it hard for trees to split data effectively.</a:t>
            </a:r>
          </a:p>
          <a:p>
            <a:pPr lvl="1"/>
            <a:r>
              <a:rPr lang="en-US" dirty="0"/>
              <a:t>Solution: We used K-Means with 30 clusters to group the coordinates into separate "Geo-Clusters" (biomes), turning location into a category-based region.</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779870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95DEFA2-D614-26CD-AA37-1C744520E01F}"/>
              </a:ext>
            </a:extLst>
          </p:cNvPr>
          <p:cNvSpPr>
            <a:spLocks noGrp="1"/>
          </p:cNvSpPr>
          <p:nvPr>
            <p:ph idx="1"/>
          </p:nvPr>
        </p:nvSpPr>
        <p:spPr>
          <a:xfrm>
            <a:off x="1287378" y="348916"/>
            <a:ext cx="3982454" cy="6003758"/>
          </a:xfrm>
        </p:spPr>
        <p:txBody>
          <a:bodyPr>
            <a:normAutofit/>
          </a:bodyPr>
          <a:lstStyle/>
          <a:p>
            <a:r>
              <a:rPr lang="en-US" sz="2800" dirty="0"/>
              <a:t>Handling Imbalance</a:t>
            </a:r>
          </a:p>
          <a:p>
            <a:pPr lvl="1"/>
            <a:r>
              <a:rPr lang="en-US" sz="2400" dirty="0"/>
              <a:t>Applied SMOTE, which is a method for creating extra examples of the less common classes, like Fireworks, to make sure the model pays attention to them instead of focusing only on the more common ones.</a:t>
            </a:r>
          </a:p>
          <a:p>
            <a:pPr lvl="1"/>
            <a:endParaRPr lang="en-US" sz="2400" dirty="0"/>
          </a:p>
        </p:txBody>
      </p:sp>
      <p:pic>
        <p:nvPicPr>
          <p:cNvPr id="7" name="Picture 6">
            <a:extLst>
              <a:ext uri="{FF2B5EF4-FFF2-40B4-BE49-F238E27FC236}">
                <a16:creationId xmlns:a16="http://schemas.microsoft.com/office/drawing/2014/main" id="{CA945F6D-1E11-8DA8-6518-388787999C4B}"/>
              </a:ext>
            </a:extLst>
          </p:cNvPr>
          <p:cNvPicPr>
            <a:picLocks noChangeAspect="1"/>
          </p:cNvPicPr>
          <p:nvPr/>
        </p:nvPicPr>
        <p:blipFill>
          <a:blip r:embed="rId2"/>
          <a:stretch>
            <a:fillRect/>
          </a:stretch>
        </p:blipFill>
        <p:spPr>
          <a:xfrm>
            <a:off x="5502443" y="1712496"/>
            <a:ext cx="6595802" cy="2811377"/>
          </a:xfrm>
          <a:prstGeom prst="rect">
            <a:avLst/>
          </a:prstGeom>
        </p:spPr>
      </p:pic>
    </p:spTree>
    <p:extLst>
      <p:ext uri="{BB962C8B-B14F-4D97-AF65-F5344CB8AC3E}">
        <p14:creationId xmlns:p14="http://schemas.microsoft.com/office/powerpoint/2010/main" val="274658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995A6-2BA8-088C-E71D-B4D21CDEFE4E}"/>
              </a:ext>
            </a:extLst>
          </p:cNvPr>
          <p:cNvSpPr>
            <a:spLocks noGrp="1"/>
          </p:cNvSpPr>
          <p:nvPr>
            <p:ph type="title"/>
          </p:nvPr>
        </p:nvSpPr>
        <p:spPr/>
        <p:txBody>
          <a:bodyPr/>
          <a:lstStyle/>
          <a:p>
            <a:r>
              <a:rPr lang="en-US" dirty="0"/>
              <a:t>Model used</a:t>
            </a:r>
          </a:p>
        </p:txBody>
      </p:sp>
      <p:sp>
        <p:nvSpPr>
          <p:cNvPr id="3" name="Content Placeholder 2">
            <a:extLst>
              <a:ext uri="{FF2B5EF4-FFF2-40B4-BE49-F238E27FC236}">
                <a16:creationId xmlns:a16="http://schemas.microsoft.com/office/drawing/2014/main" id="{925A67DB-D0EB-74C8-42AD-9972236C1A50}"/>
              </a:ext>
            </a:extLst>
          </p:cNvPr>
          <p:cNvSpPr>
            <a:spLocks noGrp="1"/>
          </p:cNvSpPr>
          <p:nvPr>
            <p:ph idx="1"/>
          </p:nvPr>
        </p:nvSpPr>
        <p:spPr>
          <a:xfrm>
            <a:off x="1484310" y="1780675"/>
            <a:ext cx="10018713" cy="4010526"/>
          </a:xfrm>
        </p:spPr>
        <p:txBody>
          <a:bodyPr>
            <a:normAutofit/>
          </a:bodyPr>
          <a:lstStyle/>
          <a:p>
            <a:r>
              <a:rPr lang="en-US" dirty="0"/>
              <a:t>XG Boost is a powerful machine learning model that uses trees to make predictions. </a:t>
            </a:r>
          </a:p>
          <a:p>
            <a:r>
              <a:rPr lang="en-US" dirty="0"/>
              <a:t>It is known for being fast, able to handle big data sets well, and providing accurate results. </a:t>
            </a:r>
          </a:p>
          <a:p>
            <a:r>
              <a:rPr lang="en-US" dirty="0"/>
              <a:t>It works especially well with structured data, such as the US Wildfire dataset. </a:t>
            </a:r>
          </a:p>
          <a:p>
            <a:r>
              <a:rPr lang="en-US" dirty="0" err="1"/>
              <a:t>XGBoost</a:t>
            </a:r>
            <a:r>
              <a:rPr lang="en-US" dirty="0"/>
              <a:t> can manage different types of data, including non-linear patterns and complex relationships between features.</a:t>
            </a:r>
            <a:endParaRPr dirty="0"/>
          </a:p>
        </p:txBody>
      </p:sp>
    </p:spTree>
    <p:extLst>
      <p:ext uri="{BB962C8B-B14F-4D97-AF65-F5344CB8AC3E}">
        <p14:creationId xmlns:p14="http://schemas.microsoft.com/office/powerpoint/2010/main" val="3456077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809D1C-D9A0-00D8-31DD-C315D987D953}"/>
              </a:ext>
            </a:extLst>
          </p:cNvPr>
          <p:cNvSpPr>
            <a:spLocks noGrp="1"/>
          </p:cNvSpPr>
          <p:nvPr>
            <p:ph idx="1"/>
          </p:nvPr>
        </p:nvSpPr>
        <p:spPr>
          <a:xfrm>
            <a:off x="1443790" y="902369"/>
            <a:ext cx="10059234" cy="4888832"/>
          </a:xfrm>
        </p:spPr>
        <p:txBody>
          <a:bodyPr>
            <a:normAutofit fontScale="92500"/>
          </a:bodyPr>
          <a:lstStyle/>
          <a:p>
            <a:r>
              <a:rPr lang="en-US" sz="3200" dirty="0"/>
              <a:t>Hyperparameter Optimization</a:t>
            </a:r>
          </a:p>
          <a:p>
            <a:pPr lvl="1"/>
            <a:r>
              <a:rPr lang="en-US" sz="2800" dirty="0" err="1"/>
              <a:t>RandomizedSearchCV</a:t>
            </a:r>
            <a:r>
              <a:rPr lang="en-US" sz="2800" dirty="0"/>
              <a:t>:</a:t>
            </a:r>
          </a:p>
          <a:p>
            <a:pPr lvl="2"/>
            <a:r>
              <a:rPr lang="en-US" sz="2400" dirty="0"/>
              <a:t>I used Randomized Search for 5 iterations to explore the hyperparameter space efficiently, which saves computational resources compared to Grid Search.</a:t>
            </a:r>
          </a:p>
          <a:p>
            <a:pPr marL="914400" lvl="2" indent="0">
              <a:buNone/>
            </a:pPr>
            <a:r>
              <a:rPr lang="en-US" sz="2400" dirty="0"/>
              <a:t>Key Parameters Tuned:</a:t>
            </a:r>
          </a:p>
          <a:p>
            <a:pPr lvl="2"/>
            <a:r>
              <a:rPr lang="en-US" sz="2400" dirty="0" err="1"/>
              <a:t>learning_rate</a:t>
            </a:r>
            <a:r>
              <a:rPr lang="en-US" sz="2400" dirty="0"/>
              <a:t> [0.01 - 0.2]: Determines how quickly the model makes changes.</a:t>
            </a:r>
          </a:p>
          <a:p>
            <a:pPr lvl="2"/>
            <a:r>
              <a:rPr lang="en-US" sz="2400" dirty="0" err="1"/>
              <a:t>max_depth</a:t>
            </a:r>
            <a:r>
              <a:rPr lang="en-US" sz="2400" dirty="0"/>
              <a:t> [4 - 10]: Sets how deep the trees can grow, which helps avoid making the model too complex.</a:t>
            </a:r>
          </a:p>
          <a:p>
            <a:pPr lvl="2"/>
            <a:r>
              <a:rPr lang="en-US" sz="2400" dirty="0" err="1"/>
              <a:t>n_estimators</a:t>
            </a:r>
            <a:r>
              <a:rPr lang="en-US" sz="2400" dirty="0"/>
              <a:t> [100 - 300]: Tells how many trees will be used in the forest.</a:t>
            </a:r>
          </a:p>
        </p:txBody>
      </p:sp>
    </p:spTree>
    <p:extLst>
      <p:ext uri="{BB962C8B-B14F-4D97-AF65-F5344CB8AC3E}">
        <p14:creationId xmlns:p14="http://schemas.microsoft.com/office/powerpoint/2010/main" val="248671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F8D5C46-63E5-40C5-A208-4B2189FA10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11" name="Freeform 6">
              <a:extLst>
                <a:ext uri="{FF2B5EF4-FFF2-40B4-BE49-F238E27FC236}">
                  <a16:creationId xmlns:a16="http://schemas.microsoft.com/office/drawing/2014/main" id="{4A42B4ED-376E-46C3-8BB2-EAFC660D11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94E0795D-42C3-4DFD-AEB0-286A1CF14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3" name="Freeform 8">
              <a:extLst>
                <a:ext uri="{FF2B5EF4-FFF2-40B4-BE49-F238E27FC236}">
                  <a16:creationId xmlns:a16="http://schemas.microsoft.com/office/drawing/2014/main" id="{A2ACED1B-99D0-4C14-B63B-963889DCD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4" name="Freeform 9">
              <a:extLst>
                <a:ext uri="{FF2B5EF4-FFF2-40B4-BE49-F238E27FC236}">
                  <a16:creationId xmlns:a16="http://schemas.microsoft.com/office/drawing/2014/main" id="{5C5D324F-33A3-4C66-BFE5-1742CA4E59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5" name="Freeform 10">
              <a:extLst>
                <a:ext uri="{FF2B5EF4-FFF2-40B4-BE49-F238E27FC236}">
                  <a16:creationId xmlns:a16="http://schemas.microsoft.com/office/drawing/2014/main" id="{EC572FC8-A465-4BA3-BA4D-2EC538C04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6" name="Freeform 11">
              <a:extLst>
                <a:ext uri="{FF2B5EF4-FFF2-40B4-BE49-F238E27FC236}">
                  <a16:creationId xmlns:a16="http://schemas.microsoft.com/office/drawing/2014/main" id="{66CC2B15-8E3B-4CFF-99E4-5B4E4D8CF9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C2C364D8-173D-94A1-16C5-C2A5F9CB4C78}"/>
              </a:ext>
            </a:extLst>
          </p:cNvPr>
          <p:cNvSpPr>
            <a:spLocks noGrp="1"/>
          </p:cNvSpPr>
          <p:nvPr>
            <p:ph type="title"/>
          </p:nvPr>
        </p:nvSpPr>
        <p:spPr>
          <a:xfrm>
            <a:off x="1400175" y="0"/>
            <a:ext cx="4542453" cy="1929063"/>
          </a:xfrm>
        </p:spPr>
        <p:txBody>
          <a:bodyPr>
            <a:normAutofit/>
          </a:bodyPr>
          <a:lstStyle/>
          <a:p>
            <a:r>
              <a:rPr lang="en-US" dirty="0"/>
              <a:t>Evaluation &amp; Results</a:t>
            </a:r>
          </a:p>
        </p:txBody>
      </p:sp>
      <p:sp>
        <p:nvSpPr>
          <p:cNvPr id="3" name="Content Placeholder 2">
            <a:extLst>
              <a:ext uri="{FF2B5EF4-FFF2-40B4-BE49-F238E27FC236}">
                <a16:creationId xmlns:a16="http://schemas.microsoft.com/office/drawing/2014/main" id="{BE298A2C-0621-03E6-1A79-3C87AC381150}"/>
              </a:ext>
            </a:extLst>
          </p:cNvPr>
          <p:cNvSpPr>
            <a:spLocks noGrp="1"/>
          </p:cNvSpPr>
          <p:nvPr>
            <p:ph idx="1"/>
          </p:nvPr>
        </p:nvSpPr>
        <p:spPr>
          <a:xfrm>
            <a:off x="1189527" y="1407696"/>
            <a:ext cx="4829787" cy="5065294"/>
          </a:xfrm>
        </p:spPr>
        <p:txBody>
          <a:bodyPr>
            <a:normAutofit fontScale="92500" lnSpcReduction="20000"/>
          </a:bodyPr>
          <a:lstStyle/>
          <a:p>
            <a:pPr>
              <a:lnSpc>
                <a:spcPct val="90000"/>
              </a:lnSpc>
            </a:pPr>
            <a:r>
              <a:rPr lang="en-US" sz="2000" dirty="0"/>
              <a:t>Performance Context:</a:t>
            </a:r>
          </a:p>
          <a:p>
            <a:pPr lvl="1">
              <a:lnSpc>
                <a:spcPct val="90000"/>
              </a:lnSpc>
            </a:pPr>
            <a:r>
              <a:rPr lang="en-US" dirty="0"/>
              <a:t>Baseline Accuracy: about 7.7% (which is like guessing correctly once out of 13 times).</a:t>
            </a:r>
          </a:p>
          <a:p>
            <a:pPr lvl="1">
              <a:lnSpc>
                <a:spcPct val="90000"/>
              </a:lnSpc>
            </a:pPr>
            <a:r>
              <a:rPr lang="en-US" dirty="0"/>
              <a:t>Model Accuracy: about 40%.</a:t>
            </a:r>
          </a:p>
          <a:p>
            <a:pPr lvl="1">
              <a:lnSpc>
                <a:spcPct val="90000"/>
              </a:lnSpc>
            </a:pPr>
            <a:r>
              <a:rPr lang="en-US" dirty="0"/>
              <a:t>Although 40% seems not very high, it's 5 times better than just guessing, showing that spatiotemporal metadata has a strong ability to predict outcomes.</a:t>
            </a:r>
          </a:p>
          <a:p>
            <a:pPr>
              <a:lnSpc>
                <a:spcPct val="90000"/>
              </a:lnSpc>
            </a:pPr>
            <a:r>
              <a:rPr lang="en-US" sz="2000" dirty="0"/>
              <a:t>Class-Specific Performance</a:t>
            </a:r>
          </a:p>
          <a:p>
            <a:pPr lvl="1">
              <a:lnSpc>
                <a:spcPct val="90000"/>
              </a:lnSpc>
            </a:pPr>
            <a:r>
              <a:rPr lang="en-US" dirty="0"/>
              <a:t>Lightning (F1: 0.78): It is very predictable because it mostly happens in certain seasons and specific places.</a:t>
            </a:r>
          </a:p>
          <a:p>
            <a:pPr lvl="1">
              <a:lnSpc>
                <a:spcPct val="90000"/>
              </a:lnSpc>
            </a:pPr>
            <a:r>
              <a:rPr lang="en-US" dirty="0"/>
              <a:t>Human Causes (F1: ~0.30): There is a lot of confusion between "Arson", "Debris Burning", and "Campfires" since they often happen in the same areas and at similar times.</a:t>
            </a:r>
          </a:p>
        </p:txBody>
      </p:sp>
      <p:sp>
        <p:nvSpPr>
          <p:cNvPr id="18" name="Rounded Rectangle 16">
            <a:extLst>
              <a:ext uri="{FF2B5EF4-FFF2-40B4-BE49-F238E27FC236}">
                <a16:creationId xmlns:a16="http://schemas.microsoft.com/office/drawing/2014/main" id="{63A60C88-7443-4827-9241-5019758CB4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648931"/>
            <a:ext cx="5407023"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A4A4073F-152B-8450-A89C-5893034744BE}"/>
              </a:ext>
            </a:extLst>
          </p:cNvPr>
          <p:cNvPicPr>
            <a:picLocks noChangeAspect="1"/>
          </p:cNvPicPr>
          <p:nvPr/>
        </p:nvPicPr>
        <p:blipFill>
          <a:blip r:embed="rId3"/>
          <a:stretch>
            <a:fillRect/>
          </a:stretch>
        </p:blipFill>
        <p:spPr>
          <a:xfrm>
            <a:off x="6434407" y="1221412"/>
            <a:ext cx="4744154" cy="4127414"/>
          </a:xfrm>
          <a:prstGeom prst="rect">
            <a:avLst/>
          </a:prstGeom>
        </p:spPr>
      </p:pic>
    </p:spTree>
    <p:extLst>
      <p:ext uri="{BB962C8B-B14F-4D97-AF65-F5344CB8AC3E}">
        <p14:creationId xmlns:p14="http://schemas.microsoft.com/office/powerpoint/2010/main" val="3952303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5C5C3-2414-5239-C9FC-9C3F106E2192}"/>
              </a:ext>
            </a:extLst>
          </p:cNvPr>
          <p:cNvSpPr>
            <a:spLocks noGrp="1"/>
          </p:cNvSpPr>
          <p:nvPr>
            <p:ph type="title"/>
          </p:nvPr>
        </p:nvSpPr>
        <p:spPr>
          <a:xfrm>
            <a:off x="1676817" y="-312737"/>
            <a:ext cx="10018713" cy="1752599"/>
          </a:xfrm>
        </p:spPr>
        <p:txBody>
          <a:bodyPr/>
          <a:lstStyle/>
          <a:p>
            <a:r>
              <a:rPr lang="en-US" dirty="0"/>
              <a:t>Critical Analysis</a:t>
            </a:r>
          </a:p>
        </p:txBody>
      </p:sp>
      <p:sp>
        <p:nvSpPr>
          <p:cNvPr id="3" name="Content Placeholder 2">
            <a:extLst>
              <a:ext uri="{FF2B5EF4-FFF2-40B4-BE49-F238E27FC236}">
                <a16:creationId xmlns:a16="http://schemas.microsoft.com/office/drawing/2014/main" id="{6142C307-E670-3609-77FB-0B7BC5466B17}"/>
              </a:ext>
            </a:extLst>
          </p:cNvPr>
          <p:cNvSpPr>
            <a:spLocks noGrp="1"/>
          </p:cNvSpPr>
          <p:nvPr>
            <p:ph idx="1"/>
          </p:nvPr>
        </p:nvSpPr>
        <p:spPr>
          <a:xfrm>
            <a:off x="1676817" y="1439863"/>
            <a:ext cx="10018712" cy="4756400"/>
          </a:xfrm>
        </p:spPr>
        <p:txBody>
          <a:bodyPr>
            <a:normAutofit/>
          </a:bodyPr>
          <a:lstStyle/>
          <a:p>
            <a:pPr lvl="1"/>
            <a:r>
              <a:rPr lang="en-US" sz="2400" dirty="0"/>
              <a:t>Strengths</a:t>
            </a:r>
          </a:p>
          <a:p>
            <a:pPr lvl="2"/>
            <a:r>
              <a:rPr lang="en-US" sz="2000" dirty="0"/>
              <a:t>Geo-Clustering has proven to be the most useful feature, as it turns coordinates into "Biomes".</a:t>
            </a:r>
          </a:p>
          <a:p>
            <a:pPr lvl="2"/>
            <a:r>
              <a:rPr lang="en-US" sz="2000" dirty="0"/>
              <a:t> The system also shows great scalability, handling almost 2 million records efficiently thanks to GPU acceleration.</a:t>
            </a:r>
          </a:p>
          <a:p>
            <a:pPr lvl="1"/>
            <a:r>
              <a:rPr lang="en-US" sz="2400" dirty="0"/>
              <a:t>Limitations</a:t>
            </a:r>
          </a:p>
          <a:p>
            <a:pPr lvl="2"/>
            <a:r>
              <a:rPr lang="en-US" sz="2000" dirty="0"/>
              <a:t>The model doesn't have information about the weather on the day of the fire, like whether it was hot, dry, or windy. This is the main problem that affects how accurate the model is. Also, the target variable has labels like "Miscellaneous" and "Missing," which make it harder for the model to learn properly.</a:t>
            </a:r>
          </a:p>
        </p:txBody>
      </p:sp>
    </p:spTree>
    <p:extLst>
      <p:ext uri="{BB962C8B-B14F-4D97-AF65-F5344CB8AC3E}">
        <p14:creationId xmlns:p14="http://schemas.microsoft.com/office/powerpoint/2010/main" val="461272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F652F-2791-3A9E-7A2B-127F425E6321}"/>
              </a:ext>
            </a:extLst>
          </p:cNvPr>
          <p:cNvSpPr>
            <a:spLocks noGrp="1"/>
          </p:cNvSpPr>
          <p:nvPr>
            <p:ph type="title"/>
          </p:nvPr>
        </p:nvSpPr>
        <p:spPr>
          <a:xfrm>
            <a:off x="1484309" y="-252663"/>
            <a:ext cx="10018713" cy="1752599"/>
          </a:xfrm>
        </p:spPr>
        <p:txBody>
          <a:bodyPr/>
          <a:lstStyle/>
          <a:p>
            <a:r>
              <a:rPr lang="en-US" dirty="0"/>
              <a:t>Summary and conclusions</a:t>
            </a:r>
          </a:p>
        </p:txBody>
      </p:sp>
      <p:sp>
        <p:nvSpPr>
          <p:cNvPr id="3" name="Content Placeholder 2">
            <a:extLst>
              <a:ext uri="{FF2B5EF4-FFF2-40B4-BE49-F238E27FC236}">
                <a16:creationId xmlns:a16="http://schemas.microsoft.com/office/drawing/2014/main" id="{8AD1536B-1F7B-EE15-2818-17A22AC4B652}"/>
              </a:ext>
            </a:extLst>
          </p:cNvPr>
          <p:cNvSpPr>
            <a:spLocks noGrp="1"/>
          </p:cNvSpPr>
          <p:nvPr>
            <p:ph idx="1"/>
          </p:nvPr>
        </p:nvSpPr>
        <p:spPr>
          <a:xfrm>
            <a:off x="1484309" y="951727"/>
            <a:ext cx="10294608" cy="5586664"/>
          </a:xfrm>
        </p:spPr>
        <p:txBody>
          <a:bodyPr>
            <a:normAutofit fontScale="92500" lnSpcReduction="10000"/>
          </a:bodyPr>
          <a:lstStyle/>
          <a:p>
            <a:r>
              <a:rPr lang="en-US" dirty="0"/>
              <a:t>The "5x Baseline" Validation</a:t>
            </a:r>
          </a:p>
          <a:p>
            <a:pPr lvl="1"/>
            <a:r>
              <a:rPr lang="en-US" dirty="0"/>
              <a:t>Getting 40% accuracy compared to a 7% chance happening by luck shows that wildfires don't just happen by accident. There are clear patterns in where and when they occur, and Machine Learning can find these patterns.</a:t>
            </a:r>
          </a:p>
          <a:p>
            <a:r>
              <a:rPr lang="en-US" dirty="0"/>
              <a:t>The Human vs. Nature Divide</a:t>
            </a:r>
          </a:p>
          <a:p>
            <a:pPr lvl="1"/>
            <a:r>
              <a:rPr lang="en-US" dirty="0"/>
              <a:t>The model is really good at predicting natural causes like lightning but has trouble telling the difference between human causes, such as arson and smoking, because they have the same location and time patterns.</a:t>
            </a:r>
          </a:p>
          <a:p>
            <a:r>
              <a:rPr lang="en-US" dirty="0"/>
              <a:t>The Accuracy Ceiling</a:t>
            </a:r>
          </a:p>
          <a:p>
            <a:pPr lvl="1"/>
            <a:r>
              <a:rPr lang="en-US" dirty="0"/>
              <a:t>We hit a tough limit in performance just using metadata. Without knowing things like wind speed or humidity, the model can't tell the difference between a mistake that caused a fire and someone on purpose setting a fire.</a:t>
            </a:r>
          </a:p>
          <a:p>
            <a:r>
              <a:rPr lang="en-US" dirty="0"/>
              <a:t>Operational Viability</a:t>
            </a:r>
          </a:p>
          <a:p>
            <a:pPr lvl="1"/>
            <a:r>
              <a:rPr lang="en-US" dirty="0"/>
              <a:t>This model isn't meant to replace a full forensic investigation, but it's a strong tool for quickly sorting through cases. It can quickly identify fires that are very likely to be caused by lightning, helping investigators save time.</a:t>
            </a:r>
          </a:p>
        </p:txBody>
      </p:sp>
    </p:spTree>
    <p:extLst>
      <p:ext uri="{BB962C8B-B14F-4D97-AF65-F5344CB8AC3E}">
        <p14:creationId xmlns:p14="http://schemas.microsoft.com/office/powerpoint/2010/main" val="112077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C67BA-D7A0-6BD8-994C-ACB6704C823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90B14B54-E4C5-1D63-D7ED-669D8245AB46}"/>
              </a:ext>
            </a:extLst>
          </p:cNvPr>
          <p:cNvSpPr>
            <a:spLocks noGrp="1"/>
          </p:cNvSpPr>
          <p:nvPr>
            <p:ph idx="1"/>
          </p:nvPr>
        </p:nvSpPr>
        <p:spPr/>
        <p:txBody>
          <a:bodyPr>
            <a:normAutofit fontScale="70000" lnSpcReduction="20000"/>
          </a:bodyPr>
          <a:lstStyle/>
          <a:p>
            <a:pPr marL="0" indent="0">
              <a:buNone/>
            </a:pPr>
            <a:r>
              <a:rPr lang="en-IN" b="1" dirty="0"/>
              <a:t>1.88 Million US Wildfires:</a:t>
            </a:r>
          </a:p>
          <a:p>
            <a:pPr marL="0" indent="0">
              <a:buNone/>
            </a:pPr>
            <a:r>
              <a:rPr lang="en-US" dirty="0">
                <a:hlinkClick r:id="rId2"/>
              </a:rPr>
              <a:t>https://www.kaggle.com/datasets/rtatman/188-million-us-wildfires</a:t>
            </a:r>
            <a:endParaRPr lang="en-US" dirty="0"/>
          </a:p>
          <a:p>
            <a:pPr marL="0" indent="0">
              <a:buNone/>
            </a:pPr>
            <a:r>
              <a:rPr lang="en-US" b="1" dirty="0"/>
              <a:t>Analyzing 24 years of wildfire data in the US:</a:t>
            </a:r>
          </a:p>
          <a:p>
            <a:pPr marL="0" indent="0">
              <a:buNone/>
            </a:pPr>
            <a:r>
              <a:rPr lang="en-US" dirty="0">
                <a:hlinkClick r:id="rId3"/>
              </a:rPr>
              <a:t>https://greghcam.medium.com/analyzing-25-years-of-wildfire-data-in-the-us-b3dd4ef7ec26</a:t>
            </a:r>
            <a:endParaRPr lang="en-US" dirty="0"/>
          </a:p>
          <a:p>
            <a:pPr marL="0" indent="0">
              <a:buNone/>
            </a:pPr>
            <a:r>
              <a:rPr lang="en-US" dirty="0"/>
              <a:t>Physical, social, and biological attributes for improved understanding and prediction of wildfires: FPA FOD-Attributes dataset:</a:t>
            </a:r>
          </a:p>
          <a:p>
            <a:pPr marL="0" indent="0">
              <a:buNone/>
            </a:pPr>
            <a:r>
              <a:rPr lang="en-US" dirty="0">
                <a:hlinkClick r:id="rId4"/>
              </a:rPr>
              <a:t>https://essd.copernicus.org/articles/16/3045/2024/</a:t>
            </a:r>
            <a:endParaRPr lang="en-US" dirty="0"/>
          </a:p>
          <a:p>
            <a:pPr marL="0" indent="0">
              <a:buNone/>
            </a:pPr>
            <a:r>
              <a:rPr lang="en-US" dirty="0"/>
              <a:t>al-</a:t>
            </a:r>
            <a:r>
              <a:rPr lang="en-US" dirty="0" err="1"/>
              <a:t>Bashiti</a:t>
            </a:r>
            <a:r>
              <a:rPr lang="en-US" dirty="0"/>
              <a:t>, Mohammad &amp; Naser, M.Z.. (2022). Machine learning for wildfire classification: Exploring </a:t>
            </a:r>
            <a:r>
              <a:rPr lang="en-US" dirty="0" err="1"/>
              <a:t>blackbox</a:t>
            </a:r>
            <a:r>
              <a:rPr lang="en-US" dirty="0"/>
              <a:t>, </a:t>
            </a:r>
            <a:r>
              <a:rPr lang="en-US" dirty="0" err="1"/>
              <a:t>eXplainable</a:t>
            </a:r>
            <a:r>
              <a:rPr lang="en-US" dirty="0"/>
              <a:t>, symbolic, and SMOTE methods. Natural Hazards Research. 2. 10.1016/j.nhres.2022.08.001.</a:t>
            </a:r>
          </a:p>
        </p:txBody>
      </p:sp>
    </p:spTree>
    <p:extLst>
      <p:ext uri="{BB962C8B-B14F-4D97-AF65-F5344CB8AC3E}">
        <p14:creationId xmlns:p14="http://schemas.microsoft.com/office/powerpoint/2010/main" val="1255711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92829-B47C-F114-6948-A8A31928CE31}"/>
              </a:ext>
            </a:extLst>
          </p:cNvPr>
          <p:cNvSpPr>
            <a:spLocks noGrp="1"/>
          </p:cNvSpPr>
          <p:nvPr>
            <p:ph type="title"/>
          </p:nvPr>
        </p:nvSpPr>
        <p:spPr/>
        <p:txBody>
          <a:bodyPr>
            <a:normAutofit fontScale="90000"/>
          </a:bodyPr>
          <a:lstStyle/>
          <a:p>
            <a:br>
              <a:rPr lang="en-IN" dirty="0"/>
            </a:br>
            <a:br>
              <a:rPr lang="en-IN" dirty="0"/>
            </a:br>
            <a:br>
              <a:rPr lang="en-IN" dirty="0"/>
            </a:br>
            <a:br>
              <a:rPr lang="en-IN" dirty="0"/>
            </a:br>
            <a:endParaRPr lang="en-IN" dirty="0"/>
          </a:p>
        </p:txBody>
      </p:sp>
      <p:sp>
        <p:nvSpPr>
          <p:cNvPr id="3" name="Content Placeholder 2">
            <a:extLst>
              <a:ext uri="{FF2B5EF4-FFF2-40B4-BE49-F238E27FC236}">
                <a16:creationId xmlns:a16="http://schemas.microsoft.com/office/drawing/2014/main" id="{C30708A6-1D04-74C7-39BE-6117FE87C012}"/>
              </a:ext>
            </a:extLst>
          </p:cNvPr>
          <p:cNvSpPr>
            <a:spLocks noGrp="1"/>
          </p:cNvSpPr>
          <p:nvPr>
            <p:ph idx="1"/>
          </p:nvPr>
        </p:nvSpPr>
        <p:spPr/>
        <p:txBody>
          <a:bodyPr>
            <a:normAutofit/>
          </a:bodyPr>
          <a:lstStyle/>
          <a:p>
            <a:pPr lvl="8"/>
            <a:endParaRPr lang="en-IN" sz="4400" dirty="0"/>
          </a:p>
          <a:p>
            <a:pPr marL="3657600" lvl="8" indent="0">
              <a:buNone/>
            </a:pPr>
            <a:endParaRPr lang="en-IN" sz="4400" dirty="0"/>
          </a:p>
          <a:p>
            <a:pPr lvl="8"/>
            <a:r>
              <a:rPr lang="en-IN" sz="4400" dirty="0"/>
              <a:t>Thank you</a:t>
            </a:r>
          </a:p>
        </p:txBody>
      </p:sp>
    </p:spTree>
    <p:extLst>
      <p:ext uri="{BB962C8B-B14F-4D97-AF65-F5344CB8AC3E}">
        <p14:creationId xmlns:p14="http://schemas.microsoft.com/office/powerpoint/2010/main" val="32641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2141</TotalTime>
  <Words>1709</Words>
  <Application>Microsoft Office PowerPoint</Application>
  <PresentationFormat>Widescreen</PresentationFormat>
  <Paragraphs>122</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Corbel</vt:lpstr>
      <vt:lpstr>Google Sans Text</vt:lpstr>
      <vt:lpstr>Parallax</vt:lpstr>
      <vt:lpstr>SATELLITE DRIVEN WILDFIRE IMPACT ANALYSIS</vt:lpstr>
      <vt:lpstr>Introduction</vt:lpstr>
      <vt:lpstr>Overview if previous work related to the project</vt:lpstr>
      <vt:lpstr>PowerPoint Presentation</vt:lpstr>
      <vt:lpstr>PowerPoint Presentation</vt:lpstr>
      <vt:lpstr>Dataset</vt:lpstr>
      <vt:lpstr>Ethical implications </vt:lpstr>
      <vt:lpstr>Exploratory Data Analysis</vt:lpstr>
      <vt:lpstr>EDA</vt:lpstr>
      <vt:lpstr>Pre-processing</vt:lpstr>
      <vt:lpstr>PowerPoint Presentation</vt:lpstr>
      <vt:lpstr>Model used</vt:lpstr>
      <vt:lpstr>PowerPoint Presentation</vt:lpstr>
      <vt:lpstr>Evaluation &amp; Results</vt:lpstr>
      <vt:lpstr>Critical Analysis</vt:lpstr>
      <vt:lpstr>Summary and conclusions</vt:lpstr>
      <vt:lpstr>References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 Kakkad</dc:creator>
  <cp:lastModifiedBy>Uppalapati, Karthik</cp:lastModifiedBy>
  <cp:revision>22</cp:revision>
  <dcterms:created xsi:type="dcterms:W3CDTF">2025-11-12T13:13:26Z</dcterms:created>
  <dcterms:modified xsi:type="dcterms:W3CDTF">2025-11-28T22:24:16Z</dcterms:modified>
</cp:coreProperties>
</file>